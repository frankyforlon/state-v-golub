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7" r:id="rId4"/>
    <p:sldId id="258" r:id="rId5"/>
    <p:sldId id="27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20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927E2-A164-4BCC-C6B2-E0BA51D4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7CAB0-F1EA-DE20-68C2-B6EA49F97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08170-D4FD-38BF-715E-0E99676E2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0FDB4-E3DB-BB17-17AC-220D8A84CC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2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936456" y="0"/>
            <a:ext cx="7144" cy="4572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812267"/>
            <a:ext cx="50863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944BC"/>
                </a:solidFill>
              </a:rPr>
              <a:t>Case No. 235900706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189100"/>
            <a:ext cx="5086350" cy="1112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249" b="1" kern="0" spc="-2" dirty="0">
                <a:solidFill>
                  <a:srgbClr val="000000"/>
                </a:solidFill>
              </a:rPr>
              <a:t>State of Utah
v. Peter Golub</a:t>
            </a:r>
            <a:endParaRPr lang="en-US" sz="4249" dirty="0"/>
          </a:p>
        </p:txBody>
      </p:sp>
      <p:sp>
        <p:nvSpPr>
          <p:cNvPr id="7" name="Text 4"/>
          <p:cNvSpPr/>
          <p:nvPr/>
        </p:nvSpPr>
        <p:spPr>
          <a:xfrm>
            <a:off x="428625" y="2587823"/>
            <a:ext cx="5086350" cy="54861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Third District Court
 Defense Presentation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428625" y="3565066"/>
            <a:ext cx="50863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JANUARY 2026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5943600" y="0"/>
            <a:ext cx="3200400" cy="45720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0"/>
            <a:ext cx="3200400" cy="4572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8"/>
          <p:cNvSpPr/>
          <p:nvPr/>
        </p:nvSpPr>
        <p:spPr>
          <a:xfrm>
            <a:off x="428625" y="4770239"/>
            <a:ext cx="4357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3F00"/>
                </a:solidFill>
              </a:rPr>
              <a:t>JUDGE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935831" y="4770239"/>
            <a:ext cx="19287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3F00"/>
                </a:solidFill>
              </a:rPr>
              <a:t>Elizabeth A. Hruby-Mills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691409"/>
            <a:ext cx="9144000" cy="6526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-336007"/>
            <a:ext cx="4243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Central Question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7136076" y="-44900"/>
            <a:ext cx="15792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Reasonable Doubt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444447"/>
            <a:ext cx="2714625" cy="4840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3944BC"/>
                </a:solidFill>
              </a:rPr>
              <a:t>Can the State Prove Guilt Beyond Reasonable Doubt When Its Only Physical Evidence Comes from a Broken Process?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3286125" y="501597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8" name="Text 5"/>
          <p:cNvSpPr/>
          <p:nvPr/>
        </p:nvSpPr>
        <p:spPr>
          <a:xfrm>
            <a:off x="3486150" y="446233"/>
            <a:ext cx="2393100" cy="1914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The State's case rests on two unsupported facts: 1) There is no video evidence that the defendant broke any traffic laws; 2) The only piece of physical evidence is a breath test the officer himself admitted was "not proper."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3286125" y="2478853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0" name="Text 7"/>
          <p:cNvSpPr/>
          <p:nvPr/>
        </p:nvSpPr>
        <p:spPr>
          <a:xfrm>
            <a:off x="3486150" y="2423489"/>
            <a:ext cx="2488090" cy="71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That test recorded a physiologically impossible 144-second continuous blow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3286125" y="3256043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2" name="Text 9"/>
          <p:cNvSpPr/>
          <p:nvPr/>
        </p:nvSpPr>
        <p:spPr>
          <a:xfrm>
            <a:off x="3486150" y="3200679"/>
            <a:ext cx="2494257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The arresting officer admitted the test was "improperly done"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3286125" y="3793220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4" name="Text 11"/>
          <p:cNvSpPr/>
          <p:nvPr/>
        </p:nvSpPr>
        <p:spPr>
          <a:xfrm>
            <a:off x="3486150" y="3737856"/>
            <a:ext cx="2460659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No blood draw was performed to verify the result</a:t>
            </a:r>
            <a:endParaRPr lang="en-US" sz="1269" dirty="0"/>
          </a:p>
        </p:txBody>
      </p:sp>
      <p:sp>
        <p:nvSpPr>
          <p:cNvPr id="15" name="Shape 12"/>
          <p:cNvSpPr/>
          <p:nvPr/>
        </p:nvSpPr>
        <p:spPr>
          <a:xfrm>
            <a:off x="3286125" y="4330396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6" name="Text 13"/>
          <p:cNvSpPr/>
          <p:nvPr/>
        </p:nvSpPr>
        <p:spPr>
          <a:xfrm>
            <a:off x="3486150" y="4275032"/>
            <a:ext cx="2420196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No second breath sample was taken as required by Utah law</a:t>
            </a:r>
            <a:endParaRPr lang="en-US" sz="1269" dirty="0"/>
          </a:p>
        </p:txBody>
      </p:sp>
      <p:sp>
        <p:nvSpPr>
          <p:cNvPr id="17" name="Shape 14"/>
          <p:cNvSpPr/>
          <p:nvPr/>
        </p:nvSpPr>
        <p:spPr>
          <a:xfrm>
            <a:off x="6143625" y="444447"/>
            <a:ext cx="2571750" cy="1364038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25" y="444447"/>
            <a:ext cx="2571750" cy="135731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8625" y="5427743"/>
            <a:ext cx="8286750" cy="26431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B5CDD-C421-2066-913A-8C214C5D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90DCE06-242D-716C-C2CA-C4FD01750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C13B38C-7683-13EA-FB27-8D6E7B890C82}"/>
              </a:ext>
            </a:extLst>
          </p:cNvPr>
          <p:cNvSpPr/>
          <p:nvPr/>
        </p:nvSpPr>
        <p:spPr>
          <a:xfrm>
            <a:off x="285750" y="428625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BA745AC-86EF-5487-C87C-F2FB83288C86}"/>
              </a:ext>
            </a:extLst>
          </p:cNvPr>
          <p:cNvSpPr/>
          <p:nvPr/>
        </p:nvSpPr>
        <p:spPr>
          <a:xfrm>
            <a:off x="285750" y="1037630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6045C30-447F-DAE0-38EF-59CA09848CB4}"/>
              </a:ext>
            </a:extLst>
          </p:cNvPr>
          <p:cNvSpPr/>
          <p:nvPr/>
        </p:nvSpPr>
        <p:spPr>
          <a:xfrm>
            <a:off x="285750" y="428625"/>
            <a:ext cx="4229812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</a:rPr>
              <a:t>Four </a:t>
            </a:r>
            <a:r>
              <a:rPr lang="en-US" sz="2436" b="1" dirty="0">
                <a:solidFill>
                  <a:srgbClr val="000000"/>
                </a:solidFill>
              </a:rPr>
              <a:t>Pillars of Reasonable Doubt</a:t>
            </a:r>
            <a:endParaRPr lang="en-US" sz="2436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5389877-6296-1F9A-6263-1C3B45D591A4}"/>
              </a:ext>
            </a:extLst>
          </p:cNvPr>
          <p:cNvSpPr/>
          <p:nvPr/>
        </p:nvSpPr>
        <p:spPr>
          <a:xfrm>
            <a:off x="7390572" y="719733"/>
            <a:ext cx="14676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Defense Strategy</a:t>
            </a:r>
            <a:endParaRPr lang="en-US" sz="885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372A004-25C8-CE5F-6172-41F635114C7B}"/>
              </a:ext>
            </a:extLst>
          </p:cNvPr>
          <p:cNvSpPr/>
          <p:nvPr/>
        </p:nvSpPr>
        <p:spPr>
          <a:xfrm>
            <a:off x="285750" y="1180505"/>
            <a:ext cx="2500313" cy="3391495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FD3F812-31A3-1E27-7CA9-6026B2782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180505"/>
            <a:ext cx="2500313" cy="3391495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681D2986-B108-98D4-C24A-C7B053581CB6}"/>
              </a:ext>
            </a:extLst>
          </p:cNvPr>
          <p:cNvSpPr/>
          <p:nvPr/>
        </p:nvSpPr>
        <p:spPr>
          <a:xfrm>
            <a:off x="2928938" y="1180505"/>
            <a:ext cx="5929313" cy="9018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90E4A1C-9028-705F-42CD-761630E4F771}"/>
              </a:ext>
            </a:extLst>
          </p:cNvPr>
          <p:cNvSpPr/>
          <p:nvPr/>
        </p:nvSpPr>
        <p:spPr>
          <a:xfrm>
            <a:off x="2928938" y="1180505"/>
            <a:ext cx="57150" cy="901898"/>
          </a:xfrm>
          <a:prstGeom prst="rect">
            <a:avLst/>
          </a:prstGeom>
          <a:solidFill>
            <a:srgbClr val="3944BC"/>
          </a:solidFill>
          <a:ln/>
        </p:spPr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830A3769-85B4-4CC1-591E-20C25DC76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813" y="1266230"/>
            <a:ext cx="357188" cy="28575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A41428C4-E877-3CB5-46BF-404BC4CDE0D1}"/>
              </a:ext>
            </a:extLst>
          </p:cNvPr>
          <p:cNvSpPr/>
          <p:nvPr/>
        </p:nvSpPr>
        <p:spPr>
          <a:xfrm>
            <a:off x="3543300" y="1266230"/>
            <a:ext cx="51720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1. The 144-Second Anomaly</a:t>
            </a:r>
            <a:endParaRPr lang="en-US" sz="1397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9D9BCD1-ED75-64E2-9C56-1ECAE643C849}"/>
              </a:ext>
            </a:extLst>
          </p:cNvPr>
          <p:cNvSpPr/>
          <p:nvPr/>
        </p:nvSpPr>
        <p:spPr>
          <a:xfrm>
            <a:off x="3543300" y="1596628"/>
            <a:ext cx="5172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 breath test that violates the laws of biology cannot prove guilt. 144 seconds is physiologically impossible.</a:t>
            </a:r>
            <a:endParaRPr lang="en-US" sz="105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9C3C39F9-D0E6-72FA-99C2-AC4237A1C4AE}"/>
              </a:ext>
            </a:extLst>
          </p:cNvPr>
          <p:cNvSpPr/>
          <p:nvPr/>
        </p:nvSpPr>
        <p:spPr>
          <a:xfrm>
            <a:off x="2928938" y="2425303"/>
            <a:ext cx="5929313" cy="9018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46F336CE-10A7-5628-3901-FE26031072B3}"/>
              </a:ext>
            </a:extLst>
          </p:cNvPr>
          <p:cNvSpPr/>
          <p:nvPr/>
        </p:nvSpPr>
        <p:spPr>
          <a:xfrm>
            <a:off x="2928938" y="2425303"/>
            <a:ext cx="57150" cy="90189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0C6C64AE-927C-C264-1E23-9AC15B1EC1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1813" y="2511028"/>
            <a:ext cx="357188" cy="28575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071ED06C-599E-61FA-9D98-722360AAF572}"/>
              </a:ext>
            </a:extLst>
          </p:cNvPr>
          <p:cNvSpPr/>
          <p:nvPr/>
        </p:nvSpPr>
        <p:spPr>
          <a:xfrm>
            <a:off x="3543300" y="2511028"/>
            <a:ext cx="1326710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2. Probable Cause</a:t>
            </a:r>
            <a:endParaRPr lang="en-US" sz="1397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2576A33-EA6F-EA27-1641-C0E139E11DD6}"/>
              </a:ext>
            </a:extLst>
          </p:cNvPr>
          <p:cNvSpPr/>
          <p:nvPr/>
        </p:nvSpPr>
        <p:spPr>
          <a:xfrm>
            <a:off x="3543300" y="2841427"/>
            <a:ext cx="5172075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During over 10-blocks of observation, there is no video of the Defendant breaking any traffic laws. </a:t>
            </a:r>
            <a:endParaRPr lang="en-US" sz="105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EF21869D-DD9D-DAA7-0C8D-D5E734C58D44}"/>
              </a:ext>
            </a:extLst>
          </p:cNvPr>
          <p:cNvSpPr/>
          <p:nvPr/>
        </p:nvSpPr>
        <p:spPr>
          <a:xfrm>
            <a:off x="3520362" y="3755827"/>
            <a:ext cx="65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397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95F8DD8C-CF60-6C92-87EA-76D1112EBC2B}"/>
              </a:ext>
            </a:extLst>
          </p:cNvPr>
          <p:cNvSpPr/>
          <p:nvPr/>
        </p:nvSpPr>
        <p:spPr>
          <a:xfrm>
            <a:off x="3520362" y="4086225"/>
            <a:ext cx="5195013" cy="1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105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1F2E3385-FF4D-9824-F3B1-8AA0302CBD10}"/>
              </a:ext>
            </a:extLst>
          </p:cNvPr>
          <p:cNvSpPr/>
          <p:nvPr/>
        </p:nvSpPr>
        <p:spPr>
          <a:xfrm>
            <a:off x="285750" y="4714875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32170C05-9103-EA1C-55D0-1933E181F57B}"/>
              </a:ext>
            </a:extLst>
          </p:cNvPr>
          <p:cNvSpPr/>
          <p:nvPr/>
        </p:nvSpPr>
        <p:spPr>
          <a:xfrm>
            <a:off x="285750" y="4714875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97F5E85E-83E2-9445-984B-8ACFEEE45BDA}"/>
              </a:ext>
            </a:extLst>
          </p:cNvPr>
          <p:cNvSpPr/>
          <p:nvPr/>
        </p:nvSpPr>
        <p:spPr>
          <a:xfrm>
            <a:off x="285750" y="4714875"/>
            <a:ext cx="857250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  <p:extLst>
      <p:ext uri="{BB962C8B-B14F-4D97-AF65-F5344CB8AC3E}">
        <p14:creationId xmlns:p14="http://schemas.microsoft.com/office/powerpoint/2010/main" val="671243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037630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4229812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</a:rPr>
              <a:t>Four </a:t>
            </a:r>
            <a:r>
              <a:rPr lang="en-US" sz="2436" b="1" dirty="0">
                <a:solidFill>
                  <a:srgbClr val="000000"/>
                </a:solidFill>
              </a:rPr>
              <a:t>Pillars of Reasonable Doubt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90572" y="719733"/>
            <a:ext cx="14676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Defense Strategy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85750" y="1180505"/>
            <a:ext cx="2500313" cy="3391495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180505"/>
            <a:ext cx="2500313" cy="33914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43300" y="1266230"/>
            <a:ext cx="65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3543300" y="1596628"/>
            <a:ext cx="5172075" cy="1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928937" y="1509817"/>
            <a:ext cx="5929313" cy="9018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5" name="Shape 10"/>
          <p:cNvSpPr/>
          <p:nvPr/>
        </p:nvSpPr>
        <p:spPr>
          <a:xfrm>
            <a:off x="2957513" y="1509817"/>
            <a:ext cx="57150" cy="90189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1643164"/>
            <a:ext cx="357188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71862" y="1652536"/>
            <a:ext cx="1504194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3. Confirmation Bias</a:t>
            </a:r>
            <a:endParaRPr lang="en-US" sz="1397" dirty="0"/>
          </a:p>
        </p:txBody>
      </p:sp>
      <p:sp>
        <p:nvSpPr>
          <p:cNvPr id="18" name="Text 12"/>
          <p:cNvSpPr/>
          <p:nvPr/>
        </p:nvSpPr>
        <p:spPr>
          <a:xfrm>
            <a:off x="3471862" y="1980742"/>
            <a:ext cx="5172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An officer with 24x the average arrest rate was predetermined to find guilt, ignoring objective evidence.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2957513" y="2696767"/>
            <a:ext cx="5929313" cy="9018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0" name="Shape 14"/>
          <p:cNvSpPr/>
          <p:nvPr/>
        </p:nvSpPr>
        <p:spPr>
          <a:xfrm>
            <a:off x="2957513" y="2689815"/>
            <a:ext cx="57150" cy="901898"/>
          </a:xfrm>
          <a:prstGeom prst="rect">
            <a:avLst/>
          </a:prstGeom>
          <a:solidFill>
            <a:srgbClr val="FF3F0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388" y="2684070"/>
            <a:ext cx="285750" cy="2857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43300" y="2739821"/>
            <a:ext cx="1766766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4. Procedural Violations</a:t>
            </a:r>
            <a:endParaRPr lang="en-US" sz="1397" dirty="0"/>
          </a:p>
        </p:txBody>
      </p:sp>
      <p:sp>
        <p:nvSpPr>
          <p:cNvPr id="23" name="Text 16"/>
          <p:cNvSpPr/>
          <p:nvPr/>
        </p:nvSpPr>
        <p:spPr>
          <a:xfrm>
            <a:off x="3520362" y="3148449"/>
            <a:ext cx="51950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80 minutes of custodial interrogation without Miranda warnings violates fundamental rights.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285750" y="4714875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285750" y="4714875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19"/>
          <p:cNvSpPr/>
          <p:nvPr/>
        </p:nvSpPr>
        <p:spPr>
          <a:xfrm>
            <a:off x="285750" y="4714875"/>
            <a:ext cx="857250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08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428625"/>
            <a:ext cx="8743950" cy="10179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00025" y="1418034"/>
            <a:ext cx="87439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00025" y="428625"/>
            <a:ext cx="6418687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Pillar 1: The 144-Second Breath Test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618712" y="1010841"/>
            <a:ext cx="232526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3944BC"/>
                </a:solidFill>
              </a:rPr>
              <a:t>Physiological Impossibility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00025" y="1503759"/>
            <a:ext cx="56578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3F00"/>
                </a:solidFill>
              </a:rPr>
              <a:t>The Intoxilyzer Recorded a Result That Violates Biological Limits</a:t>
            </a:r>
            <a:endParaRPr lang="en-US" sz="1808" dirty="0"/>
          </a:p>
        </p:txBody>
      </p:sp>
      <p:sp>
        <p:nvSpPr>
          <p:cNvPr id="8" name="Shape 5"/>
          <p:cNvSpPr/>
          <p:nvPr/>
        </p:nvSpPr>
        <p:spPr>
          <a:xfrm>
            <a:off x="200025" y="2163831"/>
            <a:ext cx="5657850" cy="89296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9" name="Shape 6"/>
          <p:cNvSpPr/>
          <p:nvPr/>
        </p:nvSpPr>
        <p:spPr>
          <a:xfrm>
            <a:off x="200025" y="2163831"/>
            <a:ext cx="28575" cy="89296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257175" y="2220981"/>
            <a:ext cx="18079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Human Lung Capacity (Max)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144002" y="2220981"/>
            <a:ext cx="6567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~4.8 Liters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257175" y="2438865"/>
            <a:ext cx="5543550" cy="1285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0"/>
          <p:cNvSpPr/>
          <p:nvPr/>
        </p:nvSpPr>
        <p:spPr>
          <a:xfrm>
            <a:off x="257175" y="2438865"/>
            <a:ext cx="1219572" cy="128588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4" name="Text 11"/>
          <p:cNvSpPr/>
          <p:nvPr/>
        </p:nvSpPr>
        <p:spPr>
          <a:xfrm>
            <a:off x="257175" y="2438865"/>
            <a:ext cx="1219572" cy="12858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4.8L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257175" y="2610315"/>
            <a:ext cx="16326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Required Air for 144s Test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144002" y="2610315"/>
            <a:ext cx="6567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21.6 Liters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257175" y="2828199"/>
            <a:ext cx="5543550" cy="1285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7175" y="2828199"/>
            <a:ext cx="5543550" cy="12858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9" name="Text 16"/>
          <p:cNvSpPr/>
          <p:nvPr/>
        </p:nvSpPr>
        <p:spPr>
          <a:xfrm>
            <a:off x="257175" y="2828199"/>
            <a:ext cx="5543550" cy="12858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21.6L (4.5x Capacity)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200025" y="3128237"/>
            <a:ext cx="6161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•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342900" y="3119307"/>
            <a:ext cx="12200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Video Evidence: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1562974" y="3119307"/>
            <a:ext cx="40981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Bodycam confirms 144 seconds of continuous blowing.</a:t>
            </a:r>
            <a:endParaRPr lang="en-US" sz="1159" dirty="0"/>
          </a:p>
        </p:txBody>
      </p:sp>
      <p:sp>
        <p:nvSpPr>
          <p:cNvPr id="23" name="Text 20"/>
          <p:cNvSpPr/>
          <p:nvPr/>
        </p:nvSpPr>
        <p:spPr>
          <a:xfrm>
            <a:off x="200025" y="3353265"/>
            <a:ext cx="6161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•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342900" y="3344335"/>
            <a:ext cx="7874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The Math: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342900" y="3344335"/>
            <a:ext cx="5134542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At minimum flow rate (0.15 L/s), 144 seconds requires 21.6 liters of air.</a:t>
            </a:r>
            <a:endParaRPr lang="en-US" sz="1159" dirty="0"/>
          </a:p>
        </p:txBody>
      </p:sp>
      <p:sp>
        <p:nvSpPr>
          <p:cNvPr id="26" name="Text 23"/>
          <p:cNvSpPr/>
          <p:nvPr/>
        </p:nvSpPr>
        <p:spPr>
          <a:xfrm>
            <a:off x="200025" y="3774746"/>
            <a:ext cx="6161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•</a:t>
            </a:r>
            <a:endParaRPr lang="en-US" sz="1090" dirty="0"/>
          </a:p>
        </p:txBody>
      </p:sp>
      <p:sp>
        <p:nvSpPr>
          <p:cNvPr id="27" name="Text 24"/>
          <p:cNvSpPr/>
          <p:nvPr/>
        </p:nvSpPr>
        <p:spPr>
          <a:xfrm>
            <a:off x="342900" y="3765817"/>
            <a:ext cx="9040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Conclusion:</a:t>
            </a:r>
            <a:endParaRPr lang="en-US" sz="1090" dirty="0"/>
          </a:p>
        </p:txBody>
      </p:sp>
      <p:sp>
        <p:nvSpPr>
          <p:cNvPr id="28" name="Text 25"/>
          <p:cNvSpPr/>
          <p:nvPr/>
        </p:nvSpPr>
        <p:spPr>
          <a:xfrm>
            <a:off x="342900" y="3765817"/>
            <a:ext cx="5401233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This is not a valid breath test—it is a machine malfunction or protocol violation.</a:t>
            </a:r>
            <a:endParaRPr lang="en-US" sz="1159" dirty="0"/>
          </a:p>
        </p:txBody>
      </p:sp>
      <p:sp>
        <p:nvSpPr>
          <p:cNvPr id="29" name="Shape 26"/>
          <p:cNvSpPr/>
          <p:nvPr/>
        </p:nvSpPr>
        <p:spPr>
          <a:xfrm>
            <a:off x="5943600" y="1503759"/>
            <a:ext cx="3000375" cy="3282553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503759"/>
            <a:ext cx="3000375" cy="3041452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 rot="300000">
            <a:off x="7602877" y="1560909"/>
            <a:ext cx="1226796" cy="30003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32" name="Text 28"/>
          <p:cNvSpPr/>
          <p:nvPr/>
        </p:nvSpPr>
        <p:spPr>
          <a:xfrm rot="300000">
            <a:off x="7602875" y="1560909"/>
            <a:ext cx="1226800" cy="30003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144 SECONDS</a:t>
            </a:r>
            <a:endParaRPr lang="en-US" sz="1090" dirty="0"/>
          </a:p>
        </p:txBody>
      </p:sp>
      <p:sp>
        <p:nvSpPr>
          <p:cNvPr id="33" name="Shape 29"/>
          <p:cNvSpPr/>
          <p:nvPr/>
        </p:nvSpPr>
        <p:spPr>
          <a:xfrm>
            <a:off x="5943600" y="4545211"/>
            <a:ext cx="3000375" cy="24110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0"/>
          <p:cNvSpPr/>
          <p:nvPr/>
        </p:nvSpPr>
        <p:spPr>
          <a:xfrm>
            <a:off x="5943600" y="4545211"/>
            <a:ext cx="3000375" cy="241102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Intoxilyzer 8000</a:t>
            </a:r>
            <a:endParaRPr lang="en-US" sz="784" dirty="0"/>
          </a:p>
        </p:txBody>
      </p:sp>
      <p:sp>
        <p:nvSpPr>
          <p:cNvPr id="35" name="Shape 31"/>
          <p:cNvSpPr/>
          <p:nvPr/>
        </p:nvSpPr>
        <p:spPr>
          <a:xfrm>
            <a:off x="200025" y="4872038"/>
            <a:ext cx="8743950" cy="185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200025" y="4872038"/>
            <a:ext cx="87439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3"/>
          <p:cNvSpPr/>
          <p:nvPr/>
        </p:nvSpPr>
        <p:spPr>
          <a:xfrm>
            <a:off x="200025" y="4872038"/>
            <a:ext cx="8743950" cy="185738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372926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81931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87214"/>
            <a:ext cx="477729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What Utah Law Requires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276244" y="678321"/>
            <a:ext cx="14391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3944BC"/>
                </a:solidFill>
              </a:rPr>
              <a:t>Legal Standards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50081" y="1281968"/>
            <a:ext cx="45648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Utah Admin. Code R714-500-6(A)(3)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650081" y="1492709"/>
            <a:ext cx="456485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i="1" dirty="0">
                <a:solidFill>
                  <a:srgbClr val="000000"/>
                </a:solidFill>
              </a:rPr>
              <a:t>"Breath specimen analyzed shall be essentially alveolar or end expiratory in composition"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650081" y="2045624"/>
            <a:ext cx="4564856" cy="789384"/>
          </a:xfrm>
          <a:prstGeom prst="rect">
            <a:avLst/>
          </a:prstGeom>
          <a:solidFill>
            <a:srgbClr val="FFF0EB"/>
          </a:solidFill>
          <a:ln w="9144">
            <a:solidFill>
              <a:srgbClr val="FF3F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956" y="2159924"/>
            <a:ext cx="42791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F00"/>
                </a:solidFill>
              </a:rPr>
              <a:t>The Violation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92956" y="2331374"/>
            <a:ext cx="427910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144 seconds exceeds biological limits by 400%. It cannot be "essentially alveolar."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50081" y="3042177"/>
            <a:ext cx="45648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Utah Admin. Code R714-500-6(E)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50081" y="3252918"/>
            <a:ext cx="4564856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i="1" dirty="0">
                <a:solidFill>
                  <a:srgbClr val="000000"/>
                </a:solidFill>
              </a:rPr>
              <a:t>Requires TWO samples agreeing within 0.020 g/210L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650081" y="3582953"/>
            <a:ext cx="4564856" cy="594717"/>
          </a:xfrm>
          <a:prstGeom prst="rect">
            <a:avLst/>
          </a:prstGeom>
          <a:solidFill>
            <a:srgbClr val="FFF0EB"/>
          </a:solidFill>
          <a:ln w="9144">
            <a:solidFill>
              <a:srgbClr val="FF3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956" y="3697253"/>
            <a:ext cx="42791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F00"/>
                </a:solidFill>
              </a:rPr>
              <a:t>The Violation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792956" y="3868703"/>
            <a:ext cx="42791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Only ONE sample was taken. No verification.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5500688" y="1296256"/>
            <a:ext cx="3214688" cy="2874271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8" y="1296256"/>
            <a:ext cx="3214688" cy="287427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00688" y="3891921"/>
            <a:ext cx="3214688" cy="278606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500688" y="3891921"/>
            <a:ext cx="3214688" cy="27860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Intoxilyzer / Breath Test Device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428625" y="4456277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428625" y="4456277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19"/>
          <p:cNvSpPr/>
          <p:nvPr/>
        </p:nvSpPr>
        <p:spPr>
          <a:xfrm>
            <a:off x="428625" y="4456277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565684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Officer's Own Admission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13951" y="719733"/>
            <a:ext cx="9014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Testimony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428625" y="1223367"/>
            <a:ext cx="8286750" cy="137762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223367"/>
            <a:ext cx="71438" cy="137762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080492"/>
            <a:ext cx="20518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410" dirty="0">
                <a:solidFill>
                  <a:srgbClr val="FF3F00"/>
                </a:solidFill>
              </a:rPr>
              <a:t>“</a:t>
            </a:r>
            <a:endParaRPr lang="en-US" sz="4410" dirty="0"/>
          </a:p>
        </p:txBody>
      </p:sp>
      <p:sp>
        <p:nvSpPr>
          <p:cNvPr id="10" name="Text 7"/>
          <p:cNvSpPr/>
          <p:nvPr/>
        </p:nvSpPr>
        <p:spPr>
          <a:xfrm>
            <a:off x="642938" y="1437680"/>
            <a:ext cx="7858125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8" b="1" i="1" dirty="0">
                <a:solidFill>
                  <a:srgbClr val="000000"/>
                </a:solidFill>
              </a:rPr>
              <a:t>The defendant would not properly blow into the machine, so we had to make several attempts.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642938" y="2192015"/>
            <a:ext cx="7858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— Corporal Ernstsen, Dec 31, 2024 Testimony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2858170"/>
            <a:ext cx="26669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 Reset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28625" y="3149278"/>
            <a:ext cx="26669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Officer did not reset the machine after recognizing the problem.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38491" y="2858170"/>
            <a:ext cx="26669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 Blood Draw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3238491" y="3149278"/>
            <a:ext cx="26669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Officer chose not to perform a blood draw to verify the result.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48356" y="2858170"/>
            <a:ext cx="26670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Single Sample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6048356" y="3149278"/>
            <a:ext cx="266701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Despite knowing the test was problematic, officer relied on one corrupted sample.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8625" y="4095155"/>
            <a:ext cx="8286750" cy="49113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4095155"/>
            <a:ext cx="8286750" cy="491133"/>
          </a:xfrm>
          <a:prstGeom prst="rect">
            <a:avLst/>
          </a:prstGeom>
          <a:noFill/>
          <a:ln/>
        </p:spPr>
        <p:txBody>
          <a:bodyPr wrap="square" lIns="255143" tIns="153035" rIns="255143" bIns="153035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If the officer knew the test was improper, why is the State relying on it?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428625" y="4729163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4729163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4729163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3" y="214313"/>
            <a:ext cx="8715375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14313" y="823317"/>
            <a:ext cx="871537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214313"/>
            <a:ext cx="545623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Pillar 2: Confirmation Bias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462010" y="505420"/>
            <a:ext cx="14676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Defense Strategy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14313" y="966192"/>
            <a:ext cx="3000375" cy="3605808"/>
          </a:xfrm>
          <a:prstGeom prst="rect">
            <a:avLst/>
          </a:prstGeom>
          <a:solidFill>
            <a:srgbClr val="000000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214313" y="966192"/>
            <a:ext cx="3000375" cy="36058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14325" y="4279106"/>
            <a:ext cx="1278954" cy="19288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6"/>
          <p:cNvSpPr/>
          <p:nvPr/>
        </p:nvSpPr>
        <p:spPr>
          <a:xfrm>
            <a:off x="314325" y="4279106"/>
            <a:ext cx="1278954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PREDETERMINED GUILT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3357563" y="966192"/>
            <a:ext cx="154478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6218" b="1" dirty="0">
                <a:solidFill>
                  <a:srgbClr val="FF3F00"/>
                </a:solidFill>
              </a:rPr>
              <a:t>24x</a:t>
            </a:r>
            <a:endParaRPr lang="en-US" sz="6218" dirty="0"/>
          </a:p>
        </p:txBody>
      </p:sp>
      <p:sp>
        <p:nvSpPr>
          <p:cNvPr id="12" name="Text 8"/>
          <p:cNvSpPr/>
          <p:nvPr/>
        </p:nvSpPr>
        <p:spPr>
          <a:xfrm>
            <a:off x="5016643" y="1559123"/>
            <a:ext cx="198813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Officer's Arrest Rate
vs. State Average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3357563" y="2127721"/>
            <a:ext cx="5572125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An officer with 24x the average arrest rate was predetermined to find guilt.</a:t>
            </a:r>
            <a:endParaRPr lang="en-US" sz="1397" dirty="0"/>
          </a:p>
        </p:txBody>
      </p:sp>
      <p:sp>
        <p:nvSpPr>
          <p:cNvPr id="14" name="Text 10"/>
          <p:cNvSpPr/>
          <p:nvPr/>
        </p:nvSpPr>
        <p:spPr>
          <a:xfrm>
            <a:off x="3357563" y="2733489"/>
            <a:ext cx="5910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944BC"/>
                </a:solidFill>
              </a:rPr>
              <a:t>•</a:t>
            </a:r>
            <a:endParaRPr lang="en-US" sz="1159" dirty="0"/>
          </a:p>
        </p:txBody>
      </p:sp>
      <p:sp>
        <p:nvSpPr>
          <p:cNvPr id="15" name="Text 11"/>
          <p:cNvSpPr/>
          <p:nvPr/>
        </p:nvSpPr>
        <p:spPr>
          <a:xfrm>
            <a:off x="3514725" y="2731703"/>
            <a:ext cx="9478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GRAMA Data: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4462583" y="2731703"/>
            <a:ext cx="42792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Statistical anomaly suggesting targeting over ordinary policing.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57563" y="2983520"/>
            <a:ext cx="5910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944BC"/>
                </a:solidFill>
              </a:rPr>
              <a:t>•</a:t>
            </a:r>
            <a:endParaRPr lang="en-US" sz="1159" dirty="0"/>
          </a:p>
        </p:txBody>
      </p:sp>
      <p:sp>
        <p:nvSpPr>
          <p:cNvPr id="18" name="Text 14"/>
          <p:cNvSpPr/>
          <p:nvPr/>
        </p:nvSpPr>
        <p:spPr>
          <a:xfrm>
            <a:off x="3514725" y="2981734"/>
            <a:ext cx="9964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Tunnel Vision:</a:t>
            </a:r>
            <a:endParaRPr lang="en-US" sz="987" dirty="0"/>
          </a:p>
        </p:txBody>
      </p:sp>
      <p:sp>
        <p:nvSpPr>
          <p:cNvPr id="19" name="Text 15"/>
          <p:cNvSpPr/>
          <p:nvPr/>
        </p:nvSpPr>
        <p:spPr>
          <a:xfrm>
            <a:off x="3514725" y="2981734"/>
            <a:ext cx="5221523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Officer ignored the 144-second impossibility after deciding the outcome.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57563" y="3426433"/>
            <a:ext cx="5910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944BC"/>
                </a:solidFill>
              </a:rPr>
              <a:t>•</a:t>
            </a:r>
            <a:endParaRPr lang="en-US" sz="1159" dirty="0"/>
          </a:p>
        </p:txBody>
      </p:sp>
      <p:sp>
        <p:nvSpPr>
          <p:cNvPr id="21" name="Text 17"/>
          <p:cNvSpPr/>
          <p:nvPr/>
        </p:nvSpPr>
        <p:spPr>
          <a:xfrm>
            <a:off x="3514725" y="3424647"/>
            <a:ext cx="18301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Selective Documentation: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3514725" y="3424647"/>
            <a:ext cx="5404582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Reported subjective HGN clues but omitted objective One-Leg Stand clues.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357563" y="3934420"/>
            <a:ext cx="5572125" cy="6375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0"/>
          <p:cNvSpPr/>
          <p:nvPr/>
        </p:nvSpPr>
        <p:spPr>
          <a:xfrm>
            <a:off x="3357563" y="3934420"/>
            <a:ext cx="28575" cy="637580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5" name="Text 21"/>
          <p:cNvSpPr/>
          <p:nvPr/>
        </p:nvSpPr>
        <p:spPr>
          <a:xfrm>
            <a:off x="3429000" y="4005858"/>
            <a:ext cx="5429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State v. Perea (2013 UT 68)</a:t>
            </a:r>
            <a:endParaRPr lang="en-US" sz="784" dirty="0"/>
          </a:p>
        </p:txBody>
      </p:sp>
      <p:sp>
        <p:nvSpPr>
          <p:cNvPr id="26" name="Text 22"/>
          <p:cNvSpPr/>
          <p:nvPr/>
        </p:nvSpPr>
        <p:spPr>
          <a:xfrm>
            <a:off x="3429000" y="4189809"/>
            <a:ext cx="54292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333333"/>
                </a:solidFill>
              </a:rPr>
              <a:t>"Confirmation bias is a recognized phenomenon... where an investigator seeks evidence that confirms a hypothesis and ignores evidence that contradicts it."</a:t>
            </a:r>
            <a:endParaRPr lang="en-US" sz="834" dirty="0"/>
          </a:p>
        </p:txBody>
      </p:sp>
      <p:sp>
        <p:nvSpPr>
          <p:cNvPr id="27" name="Shape 23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214313" y="4714875"/>
            <a:ext cx="871537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Text 25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7175" y="257175"/>
            <a:ext cx="86296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7175" y="866180"/>
            <a:ext cx="86296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57175" y="257175"/>
            <a:ext cx="383739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Missing Officer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443704" y="548283"/>
            <a:ext cx="1443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Brady Violation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57175" y="951905"/>
            <a:ext cx="8629650" cy="2732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57175" y="951905"/>
            <a:ext cx="42863" cy="27324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9" name="Text 6"/>
          <p:cNvSpPr/>
          <p:nvPr/>
        </p:nvSpPr>
        <p:spPr>
          <a:xfrm>
            <a:off x="257175" y="951905"/>
            <a:ext cx="8629650" cy="27324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A Second Officer Was Present for 3.5 Hours—But Omitted from All Reports</a:t>
            </a:r>
            <a:endParaRPr lang="en-US" sz="1397" dirty="0"/>
          </a:p>
        </p:txBody>
      </p:sp>
      <p:sp>
        <p:nvSpPr>
          <p:cNvPr id="10" name="Shape 7"/>
          <p:cNvSpPr/>
          <p:nvPr/>
        </p:nvSpPr>
        <p:spPr>
          <a:xfrm>
            <a:off x="257175" y="1353741"/>
            <a:ext cx="4314825" cy="21540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257175" y="1353741"/>
            <a:ext cx="4314825" cy="42863"/>
          </a:xfrm>
          <a:prstGeom prst="rect">
            <a:avLst/>
          </a:prstGeom>
          <a:solidFill>
            <a:srgbClr val="3944B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3" y="1513582"/>
            <a:ext cx="192881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0081" y="1482328"/>
            <a:ext cx="181515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The Reality (Video)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385763" y="1802011"/>
            <a:ext cx="1170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944BC"/>
                </a:solidFill>
              </a:rPr>
              <a:t>✓</a:t>
            </a:r>
            <a:endParaRPr lang="en-US" sz="1090" dirty="0"/>
          </a:p>
        </p:txBody>
      </p:sp>
      <p:sp>
        <p:nvSpPr>
          <p:cNvPr id="15" name="Text 11"/>
          <p:cNvSpPr/>
          <p:nvPr/>
        </p:nvSpPr>
        <p:spPr>
          <a:xfrm>
            <a:off x="557213" y="1803797"/>
            <a:ext cx="12832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Visible on Video:</a:t>
            </a:r>
            <a:endParaRPr lang="en-US" sz="1090" dirty="0"/>
          </a:p>
        </p:txBody>
      </p:sp>
      <p:sp>
        <p:nvSpPr>
          <p:cNvPr id="16" name="Text 12"/>
          <p:cNvSpPr/>
          <p:nvPr/>
        </p:nvSpPr>
        <p:spPr>
          <a:xfrm>
            <a:off x="557213" y="1803797"/>
            <a:ext cx="3866694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Present throughout arrest, search, and transport.</a:t>
            </a:r>
            <a:endParaRPr lang="en-US" sz="1159" dirty="0"/>
          </a:p>
        </p:txBody>
      </p:sp>
      <p:sp>
        <p:nvSpPr>
          <p:cNvPr id="17" name="Text 13"/>
          <p:cNvSpPr/>
          <p:nvPr/>
        </p:nvSpPr>
        <p:spPr>
          <a:xfrm>
            <a:off x="385763" y="2313459"/>
            <a:ext cx="1170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944BC"/>
                </a:solidFill>
              </a:rPr>
              <a:t>✓</a:t>
            </a:r>
            <a:endParaRPr lang="en-US" sz="1090" dirty="0"/>
          </a:p>
        </p:txBody>
      </p:sp>
      <p:sp>
        <p:nvSpPr>
          <p:cNvPr id="18" name="Text 14"/>
          <p:cNvSpPr/>
          <p:nvPr/>
        </p:nvSpPr>
        <p:spPr>
          <a:xfrm>
            <a:off x="557213" y="2315245"/>
            <a:ext cx="9151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Active Role:</a:t>
            </a:r>
            <a:endParaRPr lang="en-US" sz="1090" dirty="0"/>
          </a:p>
        </p:txBody>
      </p:sp>
      <p:sp>
        <p:nvSpPr>
          <p:cNvPr id="19" name="Text 15"/>
          <p:cNvSpPr/>
          <p:nvPr/>
        </p:nvSpPr>
        <p:spPr>
          <a:xfrm>
            <a:off x="557213" y="2315245"/>
            <a:ext cx="3545309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Made the arrest, conducted vehicle inventory, coordinated tow.</a:t>
            </a:r>
            <a:endParaRPr lang="en-US" sz="1159" dirty="0"/>
          </a:p>
        </p:txBody>
      </p:sp>
      <p:sp>
        <p:nvSpPr>
          <p:cNvPr id="20" name="Text 16"/>
          <p:cNvSpPr/>
          <p:nvPr/>
        </p:nvSpPr>
        <p:spPr>
          <a:xfrm>
            <a:off x="385763" y="2824907"/>
            <a:ext cx="1170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944BC"/>
                </a:solidFill>
              </a:rPr>
              <a:t>✓</a:t>
            </a:r>
            <a:endParaRPr lang="en-US" sz="1090" dirty="0"/>
          </a:p>
        </p:txBody>
      </p:sp>
      <p:sp>
        <p:nvSpPr>
          <p:cNvPr id="21" name="Text 17"/>
          <p:cNvSpPr/>
          <p:nvPr/>
        </p:nvSpPr>
        <p:spPr>
          <a:xfrm>
            <a:off x="557213" y="2826693"/>
            <a:ext cx="9308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Interaction:</a:t>
            </a:r>
            <a:endParaRPr lang="en-US" sz="1090" dirty="0"/>
          </a:p>
        </p:txBody>
      </p:sp>
      <p:sp>
        <p:nvSpPr>
          <p:cNvPr id="22" name="Text 18"/>
          <p:cNvSpPr/>
          <p:nvPr/>
        </p:nvSpPr>
        <p:spPr>
          <a:xfrm>
            <a:off x="557213" y="2826693"/>
            <a:ext cx="3640717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Spoke with defendant and tow truck driver.</a:t>
            </a:r>
            <a:endParaRPr lang="en-US" sz="1159" dirty="0"/>
          </a:p>
        </p:txBody>
      </p:sp>
      <p:sp>
        <p:nvSpPr>
          <p:cNvPr id="23" name="Shape 19"/>
          <p:cNvSpPr/>
          <p:nvPr/>
        </p:nvSpPr>
        <p:spPr>
          <a:xfrm>
            <a:off x="4572000" y="1353741"/>
            <a:ext cx="4314825" cy="1714054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24" name="Shape 20"/>
          <p:cNvSpPr/>
          <p:nvPr/>
        </p:nvSpPr>
        <p:spPr>
          <a:xfrm>
            <a:off x="4572000" y="1353741"/>
            <a:ext cx="4314825" cy="42863"/>
          </a:xfrm>
          <a:prstGeom prst="rect">
            <a:avLst/>
          </a:prstGeom>
          <a:solidFill>
            <a:srgbClr val="FF3F00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588" y="1513582"/>
            <a:ext cx="128588" cy="1714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00613" y="1482328"/>
            <a:ext cx="19204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The Official Record</a:t>
            </a:r>
            <a:endParaRPr lang="en-US" sz="1193" dirty="0"/>
          </a:p>
        </p:txBody>
      </p:sp>
      <p:sp>
        <p:nvSpPr>
          <p:cNvPr id="27" name="Text 22"/>
          <p:cNvSpPr/>
          <p:nvPr/>
        </p:nvSpPr>
        <p:spPr>
          <a:xfrm>
            <a:off x="4700588" y="1802011"/>
            <a:ext cx="13215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✗</a:t>
            </a:r>
            <a:endParaRPr lang="en-US" sz="1090" dirty="0"/>
          </a:p>
        </p:txBody>
      </p:sp>
      <p:sp>
        <p:nvSpPr>
          <p:cNvPr id="28" name="Text 23"/>
          <p:cNvSpPr/>
          <p:nvPr/>
        </p:nvSpPr>
        <p:spPr>
          <a:xfrm>
            <a:off x="4872038" y="1803797"/>
            <a:ext cx="9483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Not Named:</a:t>
            </a:r>
            <a:endParaRPr lang="en-US" sz="1090" dirty="0"/>
          </a:p>
        </p:txBody>
      </p:sp>
      <p:sp>
        <p:nvSpPr>
          <p:cNvPr id="29" name="Text 24"/>
          <p:cNvSpPr/>
          <p:nvPr/>
        </p:nvSpPr>
        <p:spPr>
          <a:xfrm>
            <a:off x="5820370" y="1803797"/>
            <a:ext cx="22644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Absent from all police reports.</a:t>
            </a:r>
            <a:endParaRPr lang="en-US" sz="1159" dirty="0"/>
          </a:p>
        </p:txBody>
      </p:sp>
      <p:sp>
        <p:nvSpPr>
          <p:cNvPr id="30" name="Text 25"/>
          <p:cNvSpPr/>
          <p:nvPr/>
        </p:nvSpPr>
        <p:spPr>
          <a:xfrm>
            <a:off x="4700588" y="2093454"/>
            <a:ext cx="13215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✗</a:t>
            </a:r>
            <a:endParaRPr lang="en-US" sz="1090" dirty="0"/>
          </a:p>
        </p:txBody>
      </p:sp>
      <p:sp>
        <p:nvSpPr>
          <p:cNvPr id="31" name="Text 26"/>
          <p:cNvSpPr/>
          <p:nvPr/>
        </p:nvSpPr>
        <p:spPr>
          <a:xfrm>
            <a:off x="4872038" y="2095240"/>
            <a:ext cx="8543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Not Listed:</a:t>
            </a:r>
            <a:endParaRPr lang="en-US" sz="1090" dirty="0"/>
          </a:p>
        </p:txBody>
      </p:sp>
      <p:sp>
        <p:nvSpPr>
          <p:cNvPr id="32" name="Text 27"/>
          <p:cNvSpPr/>
          <p:nvPr/>
        </p:nvSpPr>
        <p:spPr>
          <a:xfrm>
            <a:off x="5726385" y="2095240"/>
            <a:ext cx="24644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Omitted from State's witness list.</a:t>
            </a:r>
            <a:endParaRPr lang="en-US" sz="1159" dirty="0"/>
          </a:p>
        </p:txBody>
      </p:sp>
      <p:sp>
        <p:nvSpPr>
          <p:cNvPr id="33" name="Text 28"/>
          <p:cNvSpPr/>
          <p:nvPr/>
        </p:nvSpPr>
        <p:spPr>
          <a:xfrm>
            <a:off x="4700588" y="2384896"/>
            <a:ext cx="13215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✗</a:t>
            </a:r>
            <a:endParaRPr lang="en-US" sz="1090" dirty="0"/>
          </a:p>
        </p:txBody>
      </p:sp>
      <p:sp>
        <p:nvSpPr>
          <p:cNvPr id="34" name="Text 29"/>
          <p:cNvSpPr/>
          <p:nvPr/>
        </p:nvSpPr>
        <p:spPr>
          <a:xfrm>
            <a:off x="4872038" y="2386682"/>
            <a:ext cx="10325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No Bodycam:</a:t>
            </a:r>
            <a:endParaRPr lang="en-US" sz="1090" dirty="0"/>
          </a:p>
        </p:txBody>
      </p:sp>
      <p:sp>
        <p:nvSpPr>
          <p:cNvPr id="35" name="Text 30"/>
          <p:cNvSpPr/>
          <p:nvPr/>
        </p:nvSpPr>
        <p:spPr>
          <a:xfrm>
            <a:off x="4872038" y="2386682"/>
            <a:ext cx="3465165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Footage never produced despite active involvement.</a:t>
            </a:r>
            <a:endParaRPr lang="en-US" sz="1159" dirty="0"/>
          </a:p>
        </p:txBody>
      </p:sp>
      <p:sp>
        <p:nvSpPr>
          <p:cNvPr id="36" name="Shape 31"/>
          <p:cNvSpPr/>
          <p:nvPr/>
        </p:nvSpPr>
        <p:spPr>
          <a:xfrm>
            <a:off x="257175" y="4166592"/>
            <a:ext cx="8629650" cy="4054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2"/>
          <p:cNvSpPr/>
          <p:nvPr/>
        </p:nvSpPr>
        <p:spPr>
          <a:xfrm>
            <a:off x="342900" y="4252317"/>
            <a:ext cx="12872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F00"/>
                </a:solidFill>
              </a:rPr>
              <a:t>The Question</a:t>
            </a:r>
            <a:endParaRPr lang="en-US" sz="1193" dirty="0"/>
          </a:p>
        </p:txBody>
      </p:sp>
      <p:sp>
        <p:nvSpPr>
          <p:cNvPr id="38" name="Text 33"/>
          <p:cNvSpPr/>
          <p:nvPr/>
        </p:nvSpPr>
        <p:spPr>
          <a:xfrm>
            <a:off x="4804925" y="4252317"/>
            <a:ext cx="39961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Why was Officer 2 erased from the official record?</a:t>
            </a:r>
            <a:endParaRPr lang="en-US" sz="1269" dirty="0"/>
          </a:p>
        </p:txBody>
      </p:sp>
      <p:sp>
        <p:nvSpPr>
          <p:cNvPr id="39" name="Shape 34"/>
          <p:cNvSpPr/>
          <p:nvPr/>
        </p:nvSpPr>
        <p:spPr>
          <a:xfrm>
            <a:off x="257175" y="4657725"/>
            <a:ext cx="862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257175" y="4657725"/>
            <a:ext cx="86296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6"/>
          <p:cNvSpPr/>
          <p:nvPr/>
        </p:nvSpPr>
        <p:spPr>
          <a:xfrm>
            <a:off x="257175" y="4657725"/>
            <a:ext cx="8629650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80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8048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555808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Pillar 3: Miranda Violation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007712" y="719733"/>
            <a:ext cx="17076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Procedural Failure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03763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944BC"/>
                </a:solidFill>
              </a:rPr>
              <a:t>80 Minutes of Custodial Interrogation Without Miranda Warnings</a:t>
            </a:r>
            <a:endParaRPr lang="en-US" sz="1602" dirty="0"/>
          </a:p>
        </p:txBody>
      </p:sp>
      <p:sp>
        <p:nvSpPr>
          <p:cNvPr id="8" name="Shape 5"/>
          <p:cNvSpPr/>
          <p:nvPr/>
        </p:nvSpPr>
        <p:spPr>
          <a:xfrm>
            <a:off x="428625" y="4379119"/>
            <a:ext cx="8286750" cy="43576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4379119"/>
            <a:ext cx="28575" cy="43576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471488" y="4421981"/>
            <a:ext cx="82010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333333"/>
                </a:solidFill>
              </a:rPr>
              <a:t>Berkemer v. McCarty (1984):</a:t>
            </a:r>
            <a:r>
              <a:rPr lang="en-US" sz="942" i="1" dirty="0">
                <a:solidFill>
                  <a:srgbClr val="333333"/>
                </a:solidFill>
              </a:rPr>
              <a:t> A traffic stop becomes custody when a suspect's freedom of action is curtailed to a degree associated with formal arrest.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428625" y="4872038"/>
            <a:ext cx="8286750" cy="185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4872038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4872038"/>
            <a:ext cx="8286750" cy="185738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06301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15305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0588"/>
            <a:ext cx="363544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Timeline of Events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686076" y="711696"/>
            <a:ext cx="20292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Procedural Violations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229618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9:15 PM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071688" y="1229618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Officer Positioned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2071688" y="1479649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100+ feet away, obstructed view outside Aces High bar.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1740396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9:17 PM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071688" y="1740396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Vehicle Exit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2071688" y="1990427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Pulls from curb. Officer claims no signal; video contradicts.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28625" y="2251174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9:28 PM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071688" y="2251174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Traffic Stop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2071688" y="2501205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Initiated after following for 10 blocks with no violations.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28625" y="2761952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F00"/>
                </a:solidFill>
              </a:rPr>
              <a:t>9:33 PM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2071688" y="2761952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Custody Begins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2071688" y="3011984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Ordered out of vehicle. </a:t>
            </a:r>
            <a:r>
              <a:rPr lang="en-US" sz="885" b="1" dirty="0">
                <a:solidFill>
                  <a:srgbClr val="555555"/>
                </a:solidFill>
              </a:rPr>
              <a:t>Miranda rights NOT read.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28625" y="3272730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10:12 PM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2071688" y="3272730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Breath Test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2071688" y="3522762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144-second impossible test administered during unwarned custody.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28625" y="3783509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F00"/>
                </a:solidFill>
              </a:rPr>
              <a:t>10:53 PM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2071688" y="3783509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Miranda Warnings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2071688" y="4033540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Given at jail. </a:t>
            </a:r>
            <a:r>
              <a:rPr lang="en-US" sz="885" b="1" dirty="0">
                <a:solidFill>
                  <a:srgbClr val="555555"/>
                </a:solidFill>
              </a:rPr>
              <a:t>80 minutes after custody began.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428625" y="4437162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428625" y="4437162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4"/>
          <p:cNvSpPr/>
          <p:nvPr/>
        </p:nvSpPr>
        <p:spPr>
          <a:xfrm>
            <a:off x="428625" y="4437162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894755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623222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What the Video Actually Shows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244069" y="576858"/>
            <a:ext cx="16141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3944BC"/>
                </a:solidFill>
              </a:rPr>
              <a:t>Objective Evidence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85750" y="1037630"/>
            <a:ext cx="2857500" cy="34486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1037630"/>
            <a:ext cx="42863" cy="3448645"/>
          </a:xfrm>
          <a:prstGeom prst="rect">
            <a:avLst/>
          </a:prstGeom>
          <a:solidFill>
            <a:srgbClr val="66666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8" y="1197471"/>
            <a:ext cx="214313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0088" y="1166217"/>
            <a:ext cx="191391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Officer's Narrative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414338" y="1528763"/>
            <a:ext cx="2600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The Stop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414338" y="1700213"/>
            <a:ext cx="2600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"Failure to signal."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4338" y="1980605"/>
            <a:ext cx="2600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The Driving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414338" y="2152055"/>
            <a:ext cx="2600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"Impaired operation."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4338" y="2432447"/>
            <a:ext cx="2600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The Breath Test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414338" y="2603897"/>
            <a:ext cx="2600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"Refusal / Failure to blow."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14338" y="2884289"/>
            <a:ext cx="2600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The Arrest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414338" y="3055739"/>
            <a:ext cx="2600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Solo officer operation.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5" y="1068884"/>
            <a:ext cx="192881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50444" y="1037630"/>
            <a:ext cx="13207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Video Reality</a:t>
            </a:r>
            <a:endParaRPr lang="en-US" sz="1193" dirty="0"/>
          </a:p>
        </p:txBody>
      </p:sp>
      <p:sp>
        <p:nvSpPr>
          <p:cNvPr id="21" name="Shape 16"/>
          <p:cNvSpPr/>
          <p:nvPr/>
        </p:nvSpPr>
        <p:spPr>
          <a:xfrm>
            <a:off x="3286125" y="2328863"/>
            <a:ext cx="2743200" cy="692944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22" name="Shape 17"/>
          <p:cNvSpPr/>
          <p:nvPr/>
        </p:nvSpPr>
        <p:spPr>
          <a:xfrm>
            <a:off x="3286125" y="2328863"/>
            <a:ext cx="28575" cy="69294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3" name="Text 18"/>
          <p:cNvSpPr/>
          <p:nvPr/>
        </p:nvSpPr>
        <p:spPr>
          <a:xfrm>
            <a:off x="3371850" y="2414588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944BC"/>
                </a:solidFill>
              </a:rPr>
              <a:t>The Stop</a:t>
            </a:r>
            <a:endParaRPr lang="en-US" sz="683" dirty="0"/>
          </a:p>
        </p:txBody>
      </p:sp>
      <p:sp>
        <p:nvSpPr>
          <p:cNvPr id="24" name="Text 19"/>
          <p:cNvSpPr/>
          <p:nvPr/>
        </p:nvSpPr>
        <p:spPr>
          <a:xfrm>
            <a:off x="3371850" y="2586038"/>
            <a:ext cx="25717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Obstructed view from 100+ feet away. Impossible to see signal.</a:t>
            </a:r>
            <a:endParaRPr lang="en-US" sz="885" dirty="0"/>
          </a:p>
        </p:txBody>
      </p:sp>
      <p:sp>
        <p:nvSpPr>
          <p:cNvPr id="25" name="Shape 20"/>
          <p:cNvSpPr/>
          <p:nvPr/>
        </p:nvSpPr>
        <p:spPr>
          <a:xfrm>
            <a:off x="6115050" y="2328863"/>
            <a:ext cx="2743200" cy="692944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26" name="Shape 21"/>
          <p:cNvSpPr/>
          <p:nvPr/>
        </p:nvSpPr>
        <p:spPr>
          <a:xfrm>
            <a:off x="6115050" y="2328863"/>
            <a:ext cx="28575" cy="69294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7" name="Text 22"/>
          <p:cNvSpPr/>
          <p:nvPr/>
        </p:nvSpPr>
        <p:spPr>
          <a:xfrm>
            <a:off x="6200775" y="2414588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944BC"/>
                </a:solidFill>
              </a:rPr>
              <a:t>The Driving</a:t>
            </a:r>
            <a:endParaRPr lang="en-US" sz="683" dirty="0"/>
          </a:p>
        </p:txBody>
      </p:sp>
      <p:sp>
        <p:nvSpPr>
          <p:cNvPr id="28" name="Text 23"/>
          <p:cNvSpPr/>
          <p:nvPr/>
        </p:nvSpPr>
        <p:spPr>
          <a:xfrm>
            <a:off x="6200775" y="2586038"/>
            <a:ext cx="25717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10 blocks of normal driving. No weaving, no issues.</a:t>
            </a:r>
            <a:endParaRPr lang="en-US" sz="885" dirty="0"/>
          </a:p>
        </p:txBody>
      </p:sp>
      <p:sp>
        <p:nvSpPr>
          <p:cNvPr id="29" name="Shape 24"/>
          <p:cNvSpPr/>
          <p:nvPr/>
        </p:nvSpPr>
        <p:spPr>
          <a:xfrm>
            <a:off x="3286125" y="3107531"/>
            <a:ext cx="2743200" cy="692944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30" name="Shape 25"/>
          <p:cNvSpPr/>
          <p:nvPr/>
        </p:nvSpPr>
        <p:spPr>
          <a:xfrm>
            <a:off x="3286125" y="3107531"/>
            <a:ext cx="28575" cy="69294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31" name="Text 26"/>
          <p:cNvSpPr/>
          <p:nvPr/>
        </p:nvSpPr>
        <p:spPr>
          <a:xfrm>
            <a:off x="3371850" y="3193256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944BC"/>
                </a:solidFill>
              </a:rPr>
              <a:t>The Breath Test</a:t>
            </a:r>
            <a:endParaRPr lang="en-US" sz="683" dirty="0"/>
          </a:p>
        </p:txBody>
      </p:sp>
      <p:sp>
        <p:nvSpPr>
          <p:cNvPr id="32" name="Text 27"/>
          <p:cNvSpPr/>
          <p:nvPr/>
        </p:nvSpPr>
        <p:spPr>
          <a:xfrm>
            <a:off x="3371850" y="3364706"/>
            <a:ext cx="25717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144 seconds of continuous blowing. Machine malfunction.</a:t>
            </a:r>
            <a:endParaRPr lang="en-US" sz="885" dirty="0"/>
          </a:p>
        </p:txBody>
      </p:sp>
      <p:sp>
        <p:nvSpPr>
          <p:cNvPr id="33" name="Shape 28"/>
          <p:cNvSpPr/>
          <p:nvPr/>
        </p:nvSpPr>
        <p:spPr>
          <a:xfrm>
            <a:off x="6115050" y="3107531"/>
            <a:ext cx="2743200" cy="692944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34" name="Shape 29"/>
          <p:cNvSpPr/>
          <p:nvPr/>
        </p:nvSpPr>
        <p:spPr>
          <a:xfrm>
            <a:off x="6115050" y="3107531"/>
            <a:ext cx="28575" cy="69294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35" name="Text 30"/>
          <p:cNvSpPr/>
          <p:nvPr/>
        </p:nvSpPr>
        <p:spPr>
          <a:xfrm>
            <a:off x="6200775" y="3193256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944BC"/>
                </a:solidFill>
              </a:rPr>
              <a:t>Officer 2</a:t>
            </a:r>
            <a:endParaRPr lang="en-US" sz="683" dirty="0"/>
          </a:p>
        </p:txBody>
      </p:sp>
      <p:sp>
        <p:nvSpPr>
          <p:cNvPr id="36" name="Text 31"/>
          <p:cNvSpPr/>
          <p:nvPr/>
        </p:nvSpPr>
        <p:spPr>
          <a:xfrm>
            <a:off x="6200775" y="3364706"/>
            <a:ext cx="25717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Clearly visible, active participant. Omitted from reports.</a:t>
            </a:r>
            <a:endParaRPr lang="en-US" sz="885" dirty="0"/>
          </a:p>
        </p:txBody>
      </p:sp>
      <p:sp>
        <p:nvSpPr>
          <p:cNvPr id="37" name="Shape 32"/>
          <p:cNvSpPr/>
          <p:nvPr/>
        </p:nvSpPr>
        <p:spPr>
          <a:xfrm>
            <a:off x="3286125" y="3886200"/>
            <a:ext cx="5572125" cy="517922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38" name="Shape 33"/>
          <p:cNvSpPr/>
          <p:nvPr/>
        </p:nvSpPr>
        <p:spPr>
          <a:xfrm>
            <a:off x="3286125" y="3886200"/>
            <a:ext cx="28575" cy="517922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39" name="Text 34"/>
          <p:cNvSpPr/>
          <p:nvPr/>
        </p:nvSpPr>
        <p:spPr>
          <a:xfrm>
            <a:off x="3371850" y="3971925"/>
            <a:ext cx="54006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F00"/>
                </a:solidFill>
              </a:rPr>
              <a:t>The One-Leg Stand</a:t>
            </a:r>
            <a:endParaRPr lang="en-US" sz="683" dirty="0"/>
          </a:p>
        </p:txBody>
      </p:sp>
      <p:sp>
        <p:nvSpPr>
          <p:cNvPr id="40" name="Text 35"/>
          <p:cNvSpPr/>
          <p:nvPr/>
        </p:nvSpPr>
        <p:spPr>
          <a:xfrm>
            <a:off x="3371850" y="4143375"/>
            <a:ext cx="54006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0/4 Clues. Perfect Performance.</a:t>
            </a:r>
            <a:endParaRPr lang="en-US" sz="885" dirty="0"/>
          </a:p>
        </p:txBody>
      </p:sp>
      <p:sp>
        <p:nvSpPr>
          <p:cNvPr id="41" name="Shape 36"/>
          <p:cNvSpPr/>
          <p:nvPr/>
        </p:nvSpPr>
        <p:spPr>
          <a:xfrm>
            <a:off x="285750" y="462915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285750" y="4629150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Text 38"/>
          <p:cNvSpPr/>
          <p:nvPr/>
        </p:nvSpPr>
        <p:spPr>
          <a:xfrm>
            <a:off x="285750" y="46291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894755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349312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One-Leg Stand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244069" y="576858"/>
            <a:ext cx="16141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3944BC"/>
                </a:solidFill>
              </a:rPr>
              <a:t>Objective Evidence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85750" y="1023342"/>
            <a:ext cx="8572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The Most Objective Field Sobriety Test: 4 Standardized Clues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285750" y="1496616"/>
            <a:ext cx="4221956" cy="9322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496616"/>
            <a:ext cx="57150" cy="932259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0" name="Text 7"/>
          <p:cNvSpPr/>
          <p:nvPr/>
        </p:nvSpPr>
        <p:spPr>
          <a:xfrm>
            <a:off x="414338" y="1730573"/>
            <a:ext cx="22748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Clue 1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14338" y="1921669"/>
            <a:ext cx="227489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Sways While Balancing</a:t>
            </a:r>
            <a:endParaRPr lang="en-US" sz="1397" dirty="0"/>
          </a:p>
        </p:txBody>
      </p:sp>
      <p:sp>
        <p:nvSpPr>
          <p:cNvPr id="12" name="Shape 9"/>
          <p:cNvSpPr/>
          <p:nvPr/>
        </p:nvSpPr>
        <p:spPr>
          <a:xfrm>
            <a:off x="2801243" y="1774329"/>
            <a:ext cx="1577876" cy="376833"/>
          </a:xfrm>
          <a:prstGeom prst="rect">
            <a:avLst/>
          </a:prstGeom>
          <a:solidFill>
            <a:srgbClr val="FFFFFF"/>
          </a:solidFill>
          <a:ln w="18288">
            <a:solidFill>
              <a:srgbClr val="3944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01243" y="1774329"/>
            <a:ext cx="1577876" cy="37683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Not Observed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4636294" y="1496616"/>
            <a:ext cx="4221956" cy="9322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636294" y="1496616"/>
            <a:ext cx="57150" cy="932259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6" name="Text 13"/>
          <p:cNvSpPr/>
          <p:nvPr/>
        </p:nvSpPr>
        <p:spPr>
          <a:xfrm>
            <a:off x="4764881" y="1730573"/>
            <a:ext cx="21490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Clue 2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764881" y="1921669"/>
            <a:ext cx="21490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Uses Arms to Balance</a:t>
            </a:r>
            <a:endParaRPr lang="en-US" sz="1397" dirty="0"/>
          </a:p>
        </p:txBody>
      </p:sp>
      <p:sp>
        <p:nvSpPr>
          <p:cNvPr id="18" name="Shape 15"/>
          <p:cNvSpPr/>
          <p:nvPr/>
        </p:nvSpPr>
        <p:spPr>
          <a:xfrm>
            <a:off x="7151787" y="1774329"/>
            <a:ext cx="1577876" cy="376833"/>
          </a:xfrm>
          <a:prstGeom prst="rect">
            <a:avLst/>
          </a:prstGeom>
          <a:solidFill>
            <a:srgbClr val="FFFFFF"/>
          </a:solidFill>
          <a:ln w="18288">
            <a:solidFill>
              <a:srgbClr val="3944B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51787" y="1774329"/>
            <a:ext cx="1577876" cy="37683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Not Observed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285750" y="2557463"/>
            <a:ext cx="4221956" cy="9322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285750" y="2557463"/>
            <a:ext cx="57150" cy="932259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2" name="Text 19"/>
          <p:cNvSpPr/>
          <p:nvPr/>
        </p:nvSpPr>
        <p:spPr>
          <a:xfrm>
            <a:off x="414338" y="2791420"/>
            <a:ext cx="5028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Clue 3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14338" y="2982516"/>
            <a:ext cx="5028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Hops</a:t>
            </a:r>
            <a:endParaRPr lang="en-US" sz="1397" dirty="0"/>
          </a:p>
        </p:txBody>
      </p:sp>
      <p:sp>
        <p:nvSpPr>
          <p:cNvPr id="24" name="Shape 21"/>
          <p:cNvSpPr/>
          <p:nvPr/>
        </p:nvSpPr>
        <p:spPr>
          <a:xfrm>
            <a:off x="2801243" y="2835176"/>
            <a:ext cx="1577876" cy="376833"/>
          </a:xfrm>
          <a:prstGeom prst="rect">
            <a:avLst/>
          </a:prstGeom>
          <a:solidFill>
            <a:srgbClr val="FFFFFF"/>
          </a:solidFill>
          <a:ln w="18288">
            <a:solidFill>
              <a:srgbClr val="3944B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01243" y="2835176"/>
            <a:ext cx="1577876" cy="37683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Not Observed</a:t>
            </a:r>
            <a:endParaRPr lang="en-US" sz="1193" dirty="0"/>
          </a:p>
        </p:txBody>
      </p:sp>
      <p:sp>
        <p:nvSpPr>
          <p:cNvPr id="26" name="Shape 23"/>
          <p:cNvSpPr/>
          <p:nvPr/>
        </p:nvSpPr>
        <p:spPr>
          <a:xfrm>
            <a:off x="4636294" y="2557463"/>
            <a:ext cx="4221956" cy="9322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4"/>
          <p:cNvSpPr/>
          <p:nvPr/>
        </p:nvSpPr>
        <p:spPr>
          <a:xfrm>
            <a:off x="4636294" y="2557463"/>
            <a:ext cx="57150" cy="932259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8" name="Text 25"/>
          <p:cNvSpPr/>
          <p:nvPr/>
        </p:nvSpPr>
        <p:spPr>
          <a:xfrm>
            <a:off x="4764881" y="2791420"/>
            <a:ext cx="15619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Clue 4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764881" y="2982516"/>
            <a:ext cx="156199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Puts Foot Down</a:t>
            </a:r>
            <a:endParaRPr lang="en-US" sz="1397" dirty="0"/>
          </a:p>
        </p:txBody>
      </p:sp>
      <p:sp>
        <p:nvSpPr>
          <p:cNvPr id="30" name="Shape 27"/>
          <p:cNvSpPr/>
          <p:nvPr/>
        </p:nvSpPr>
        <p:spPr>
          <a:xfrm>
            <a:off x="7151787" y="2835176"/>
            <a:ext cx="1577876" cy="376833"/>
          </a:xfrm>
          <a:prstGeom prst="rect">
            <a:avLst/>
          </a:prstGeom>
          <a:solidFill>
            <a:srgbClr val="FFFFFF"/>
          </a:solidFill>
          <a:ln w="18288">
            <a:solidFill>
              <a:srgbClr val="3944B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51787" y="2835176"/>
            <a:ext cx="1577876" cy="37683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Not Observed</a:t>
            </a:r>
            <a:endParaRPr lang="en-US" sz="1193" dirty="0"/>
          </a:p>
        </p:txBody>
      </p:sp>
      <p:sp>
        <p:nvSpPr>
          <p:cNvPr id="32" name="Shape 29"/>
          <p:cNvSpPr/>
          <p:nvPr/>
        </p:nvSpPr>
        <p:spPr>
          <a:xfrm>
            <a:off x="285750" y="3689747"/>
            <a:ext cx="8572500" cy="753666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33" name="Text 30"/>
          <p:cNvSpPr/>
          <p:nvPr/>
        </p:nvSpPr>
        <p:spPr>
          <a:xfrm>
            <a:off x="428625" y="3891558"/>
            <a:ext cx="171176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Total Score</a:t>
            </a:r>
            <a:endParaRPr lang="en-US" sz="1808" dirty="0"/>
          </a:p>
        </p:txBody>
      </p:sp>
      <p:sp>
        <p:nvSpPr>
          <p:cNvPr id="34" name="Text 31"/>
          <p:cNvSpPr/>
          <p:nvPr/>
        </p:nvSpPr>
        <p:spPr>
          <a:xfrm>
            <a:off x="4101629" y="3837980"/>
            <a:ext cx="9756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0 / 4</a:t>
            </a:r>
            <a:endParaRPr lang="en-US" sz="3294" dirty="0"/>
          </a:p>
        </p:txBody>
      </p:sp>
      <p:sp>
        <p:nvSpPr>
          <p:cNvPr id="35" name="Text 32"/>
          <p:cNvSpPr/>
          <p:nvPr/>
        </p:nvSpPr>
        <p:spPr>
          <a:xfrm>
            <a:off x="7038547" y="3832622"/>
            <a:ext cx="167680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Perfect Performance
 (Per Officer's Report)</a:t>
            </a:r>
            <a:endParaRPr lang="en-US" sz="1269" dirty="0"/>
          </a:p>
        </p:txBody>
      </p:sp>
      <p:sp>
        <p:nvSpPr>
          <p:cNvPr id="36" name="Shape 33"/>
          <p:cNvSpPr/>
          <p:nvPr/>
        </p:nvSpPr>
        <p:spPr>
          <a:xfrm>
            <a:off x="285750" y="45720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285750" y="4572000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Text 35"/>
          <p:cNvSpPr/>
          <p:nvPr/>
        </p:nvSpPr>
        <p:spPr>
          <a:xfrm>
            <a:off x="285750" y="4572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357098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State's Burden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64732" y="719733"/>
            <a:ext cx="13506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3944BC"/>
                </a:solidFill>
              </a:rPr>
              <a:t>Legal Standard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28650" y="1649871"/>
            <a:ext cx="38004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944BC"/>
                </a:solidFill>
              </a:rPr>
              <a:t>Beyond Reasonable Doubt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628650" y="2105285"/>
            <a:ext cx="3800475" cy="1120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Proof of such a convincing character that you would be willing to rely and act upon it without hesitation in the most important of your own affairs.</a:t>
            </a:r>
            <a:endParaRPr lang="en-US" sz="1486" dirty="0"/>
          </a:p>
        </p:txBody>
      </p:sp>
      <p:sp>
        <p:nvSpPr>
          <p:cNvPr id="9" name="Shape 6"/>
          <p:cNvSpPr/>
          <p:nvPr/>
        </p:nvSpPr>
        <p:spPr>
          <a:xfrm>
            <a:off x="4614863" y="1378264"/>
            <a:ext cx="4200525" cy="425678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0" name="Shape 7"/>
          <p:cNvSpPr/>
          <p:nvPr/>
        </p:nvSpPr>
        <p:spPr>
          <a:xfrm>
            <a:off x="4614863" y="1378264"/>
            <a:ext cx="71438" cy="42567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1" name="Text 8"/>
          <p:cNvSpPr/>
          <p:nvPr/>
        </p:nvSpPr>
        <p:spPr>
          <a:xfrm>
            <a:off x="4614863" y="1378264"/>
            <a:ext cx="4200525" cy="42567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Beyond Reasonable Doubt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4714875" y="1850957"/>
            <a:ext cx="4000500" cy="36611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4714875" y="1850957"/>
            <a:ext cx="4000500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Clear &amp; Convincing Evidence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4714875" y="2274224"/>
            <a:ext cx="4000500" cy="36611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4714875" y="2274224"/>
            <a:ext cx="4000500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Preponderance (More Likely Than Not)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4714875" y="2697491"/>
            <a:ext cx="4000500" cy="36611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4714875" y="2697491"/>
            <a:ext cx="4000500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Probable Cause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714875" y="3120758"/>
            <a:ext cx="4000500" cy="36611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6"/>
          <p:cNvSpPr/>
          <p:nvPr/>
        </p:nvSpPr>
        <p:spPr>
          <a:xfrm>
            <a:off x="4714875" y="3120758"/>
            <a:ext cx="4000500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Reasonable Suspicion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28625" y="3909082"/>
            <a:ext cx="8286750" cy="77721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004085" y="1468275"/>
            <a:ext cx="466259" cy="1218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004085" y="1468275"/>
            <a:ext cx="466259" cy="12189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F00"/>
                </a:solidFill>
              </a:rPr>
              <a:t>REQUIRED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7874980" y="1936682"/>
            <a:ext cx="697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>
                    <a:alpha val="70000"/>
                  </a:srgbClr>
                </a:solidFill>
              </a:rPr>
              <a:t>INSUFFICIENT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7874980" y="2359949"/>
            <a:ext cx="697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>
                    <a:alpha val="70000"/>
                  </a:srgbClr>
                </a:solidFill>
              </a:rPr>
              <a:t>INSUFFICIENT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7874980" y="2783216"/>
            <a:ext cx="697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>
                    <a:alpha val="70000"/>
                  </a:srgbClr>
                </a:solidFill>
              </a:rPr>
              <a:t>INSUFFICIENT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7874980" y="3206483"/>
            <a:ext cx="697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>
                    <a:alpha val="70000"/>
                  </a:srgbClr>
                </a:solidFill>
              </a:rPr>
              <a:t>INSUFFICIENT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557213" y="4037670"/>
            <a:ext cx="8029575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If you can reconcile the evidence with </a:t>
            </a:r>
            <a:r>
              <a:rPr lang="en-US" sz="1397" b="1" u="sng" dirty="0">
                <a:solidFill>
                  <a:srgbClr val="FF3F00"/>
                </a:solidFill>
                <a:uFill>
                  <a:solidFill>
                    <a:srgbClr val="FF3F00"/>
                  </a:solidFill>
                </a:uFill>
              </a:rPr>
              <a:t>any reasonable hypothesis</a:t>
            </a:r>
            <a:r>
              <a:rPr lang="en-US" sz="1397" b="1" dirty="0">
                <a:solidFill>
                  <a:srgbClr val="FFFFFF"/>
                </a:solidFill>
              </a:rPr>
              <a:t> of innocence, you must acquit.</a:t>
            </a:r>
            <a:endParaRPr lang="en-US" sz="1397" dirty="0"/>
          </a:p>
        </p:txBody>
      </p:sp>
      <p:sp>
        <p:nvSpPr>
          <p:cNvPr id="28" name="Shape 25"/>
          <p:cNvSpPr/>
          <p:nvPr/>
        </p:nvSpPr>
        <p:spPr>
          <a:xfrm>
            <a:off x="428625" y="4772025"/>
            <a:ext cx="828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28625" y="4772025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7"/>
          <p:cNvSpPr/>
          <p:nvPr/>
        </p:nvSpPr>
        <p:spPr>
          <a:xfrm>
            <a:off x="428625" y="4772025"/>
            <a:ext cx="8286750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037630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495045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Jury Instruction Dispute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418477" y="719733"/>
            <a:ext cx="1439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Pretrial Motion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85750" y="1180505"/>
            <a:ext cx="8572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The "Affirmative Findings" Instruction (Page 29)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285750" y="1668066"/>
            <a:ext cx="8572500" cy="1130498"/>
          </a:xfrm>
          <a:prstGeom prst="rect">
            <a:avLst/>
          </a:prstGeom>
          <a:solidFill>
            <a:srgbClr val="F5F5F5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0063" y="1560909"/>
            <a:ext cx="2097639" cy="22681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0" name="Text 7"/>
          <p:cNvSpPr/>
          <p:nvPr/>
        </p:nvSpPr>
        <p:spPr>
          <a:xfrm>
            <a:off x="500063" y="1560909"/>
            <a:ext cx="2097639" cy="226814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State's Proposed Instruction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28625" y="1810941"/>
            <a:ext cx="82867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"...you are instructed that the Intoxilyzer 8000 is an approved instrument and </a:t>
            </a:r>
            <a:r>
              <a:rPr lang="en-US" sz="1397" b="1" dirty="0">
                <a:solidFill>
                  <a:srgbClr val="FF3F00"/>
                </a:solidFill>
              </a:rPr>
              <a:t>is presumed to be functioning properly</a:t>
            </a:r>
            <a:r>
              <a:rPr lang="en-US" sz="1486" dirty="0">
                <a:solidFill>
                  <a:srgbClr val="333333"/>
                </a:solidFill>
              </a:rPr>
              <a:t> unless evidence is introduced to the contrary."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285750" y="3112889"/>
            <a:ext cx="27622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Directs a Verdict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285750" y="3398639"/>
            <a:ext cx="27622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Instructs the jury to accept the machine's reliability as a fact, despite the 144-second anomaly proving otherwise.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90856" y="3112889"/>
            <a:ext cx="27622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Ignores Evidence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3190856" y="3398639"/>
            <a:ext cx="276225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Disregards the arresting officer's own admission that the test was "improperly done" and required multiple attempts.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95991" y="3112889"/>
            <a:ext cx="27622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Shifts the Burden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6095991" y="3398639"/>
            <a:ext cx="276223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Improperly forces the Defendant to disprove the machine's accuracy, rather than requiring the State to prove it beyond reasonable doubt.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85750" y="45720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85750" y="4572000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7"/>
          <p:cNvSpPr/>
          <p:nvPr/>
        </p:nvSpPr>
        <p:spPr>
          <a:xfrm>
            <a:off x="285750" y="4572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475260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Side-by-Side Comparison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125639" y="719733"/>
            <a:ext cx="15897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3944BC"/>
                </a:solidFill>
              </a:rPr>
              <a:t>Jury Instructions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251942"/>
            <a:ext cx="8286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The Dispute Over "Affirmative Findings" &amp; Presumptions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428625" y="1810941"/>
            <a:ext cx="4000500" cy="2403872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810941"/>
            <a:ext cx="4000500" cy="57150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0" name="Text 7"/>
          <p:cNvSpPr/>
          <p:nvPr/>
        </p:nvSpPr>
        <p:spPr>
          <a:xfrm>
            <a:off x="642938" y="2025253"/>
            <a:ext cx="16190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F00"/>
                </a:solidFill>
              </a:rPr>
              <a:t>State's Proposal</a:t>
            </a:r>
            <a:endParaRPr lang="en-US" sz="1193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363" y="2056507"/>
            <a:ext cx="1714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938" y="2402086"/>
            <a:ext cx="357187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333333"/>
                </a:solidFill>
              </a:rPr>
              <a:t>"In the absence of evidence to the contrary, </a:t>
            </a:r>
            <a:r>
              <a:rPr lang="en-US" sz="1090" b="1" i="1" dirty="0">
                <a:solidFill>
                  <a:srgbClr val="333333"/>
                </a:solidFill>
              </a:rPr>
              <a:t>you may infer</a:t>
            </a:r>
            <a:r>
              <a:rPr lang="en-US" sz="1159" i="1" dirty="0">
                <a:solidFill>
                  <a:srgbClr val="333333"/>
                </a:solidFill>
              </a:rPr>
              <a:t> that the Intoxilyzer instrument was functioning properly..."</a:t>
            </a:r>
            <a:endParaRPr lang="en-US" sz="1159" dirty="0"/>
          </a:p>
        </p:txBody>
      </p:sp>
      <p:sp>
        <p:nvSpPr>
          <p:cNvPr id="13" name="Shape 9"/>
          <p:cNvSpPr/>
          <p:nvPr/>
        </p:nvSpPr>
        <p:spPr>
          <a:xfrm>
            <a:off x="642938" y="3611166"/>
            <a:ext cx="3571875" cy="389334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4" name="Text 10"/>
          <p:cNvSpPr/>
          <p:nvPr/>
        </p:nvSpPr>
        <p:spPr>
          <a:xfrm>
            <a:off x="642938" y="3611166"/>
            <a:ext cx="3571875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Problem: Shifts Burden to Defendant</a:t>
            </a:r>
            <a:endParaRPr lang="en-US" sz="885" dirty="0"/>
          </a:p>
        </p:txBody>
      </p:sp>
      <p:sp>
        <p:nvSpPr>
          <p:cNvPr id="15" name="Shape 11"/>
          <p:cNvSpPr/>
          <p:nvPr/>
        </p:nvSpPr>
        <p:spPr>
          <a:xfrm>
            <a:off x="4714875" y="1810941"/>
            <a:ext cx="4000500" cy="2403872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714875" y="1810941"/>
            <a:ext cx="4000500" cy="57150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7" name="Text 13"/>
          <p:cNvSpPr/>
          <p:nvPr/>
        </p:nvSpPr>
        <p:spPr>
          <a:xfrm>
            <a:off x="4929188" y="2025253"/>
            <a:ext cx="18653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Defense's Proposal</a:t>
            </a:r>
            <a:endParaRPr lang="en-US" sz="1193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613" y="2056507"/>
            <a:ext cx="171450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29188" y="2402086"/>
            <a:ext cx="357187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333333"/>
                </a:solidFill>
              </a:rPr>
              <a:t>"The State </a:t>
            </a:r>
            <a:r>
              <a:rPr lang="en-US" sz="1090" b="1" i="1" dirty="0">
                <a:solidFill>
                  <a:srgbClr val="333333"/>
                </a:solidFill>
              </a:rPr>
              <a:t>must prove beyond a reasonable doubt</a:t>
            </a:r>
            <a:r>
              <a:rPr lang="en-US" sz="1159" i="1" dirty="0">
                <a:solidFill>
                  <a:srgbClr val="333333"/>
                </a:solidFill>
              </a:rPr>
              <a:t> that the test results are accurate and reliable. You are the sole judges of the weight to be given..."</a:t>
            </a:r>
            <a:endParaRPr lang="en-US" sz="1159" dirty="0"/>
          </a:p>
        </p:txBody>
      </p:sp>
      <p:sp>
        <p:nvSpPr>
          <p:cNvPr id="20" name="Shape 15"/>
          <p:cNvSpPr/>
          <p:nvPr/>
        </p:nvSpPr>
        <p:spPr>
          <a:xfrm>
            <a:off x="4929188" y="3611166"/>
            <a:ext cx="3571875" cy="38933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1" name="Text 16"/>
          <p:cNvSpPr/>
          <p:nvPr/>
        </p:nvSpPr>
        <p:spPr>
          <a:xfrm>
            <a:off x="4929188" y="3611166"/>
            <a:ext cx="3571875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Solution: Maintains State's Burden</a:t>
            </a:r>
            <a:endParaRPr lang="en-US" sz="885" dirty="0"/>
          </a:p>
        </p:txBody>
      </p:sp>
      <p:sp>
        <p:nvSpPr>
          <p:cNvPr id="22" name="Shape 17"/>
          <p:cNvSpPr/>
          <p:nvPr/>
        </p:nvSpPr>
        <p:spPr>
          <a:xfrm>
            <a:off x="428625" y="4429125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428625" y="4429125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19"/>
          <p:cNvSpPr/>
          <p:nvPr/>
        </p:nvSpPr>
        <p:spPr>
          <a:xfrm>
            <a:off x="428625" y="4429125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2811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681209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72740"/>
            <a:ext cx="6405237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What Reasonable Doubt Looks Like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833862" y="1254956"/>
            <a:ext cx="188151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Unanswered Questions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776450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8" name="Text 5"/>
          <p:cNvSpPr/>
          <p:nvPr/>
        </p:nvSpPr>
        <p:spPr>
          <a:xfrm>
            <a:off x="658676" y="1771092"/>
            <a:ext cx="372033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How can a human blow for 144 seconds?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658676" y="2053605"/>
            <a:ext cx="372033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Physiologically impossible without machine error.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2306482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11" name="Text 8"/>
          <p:cNvSpPr/>
          <p:nvPr/>
        </p:nvSpPr>
        <p:spPr>
          <a:xfrm>
            <a:off x="658676" y="2301125"/>
            <a:ext cx="445976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Why rely on a test the officer called "improper"?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658676" y="2583638"/>
            <a:ext cx="445976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Admitted failure to follow protocol.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28625" y="2836515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14" name="Text 11"/>
          <p:cNvSpPr/>
          <p:nvPr/>
        </p:nvSpPr>
        <p:spPr>
          <a:xfrm>
            <a:off x="658676" y="2831157"/>
            <a:ext cx="345121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Where is the blood draw verification?</a:t>
            </a:r>
            <a:endParaRPr lang="en-US" sz="1295" dirty="0"/>
          </a:p>
        </p:txBody>
      </p:sp>
      <p:sp>
        <p:nvSpPr>
          <p:cNvPr id="15" name="Text 12"/>
          <p:cNvSpPr/>
          <p:nvPr/>
        </p:nvSpPr>
        <p:spPr>
          <a:xfrm>
            <a:off x="658676" y="3113670"/>
            <a:ext cx="345121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The only way to confirm a disputed breath result.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28625" y="3366548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17" name="Text 14"/>
          <p:cNvSpPr/>
          <p:nvPr/>
        </p:nvSpPr>
        <p:spPr>
          <a:xfrm>
            <a:off x="658676" y="3361190"/>
            <a:ext cx="451920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Why was the second officer erased from reports?</a:t>
            </a:r>
            <a:endParaRPr lang="en-US" sz="1295" dirty="0"/>
          </a:p>
        </p:txBody>
      </p:sp>
      <p:sp>
        <p:nvSpPr>
          <p:cNvPr id="18" name="Text 15"/>
          <p:cNvSpPr/>
          <p:nvPr/>
        </p:nvSpPr>
        <p:spPr>
          <a:xfrm>
            <a:off x="658676" y="3643703"/>
            <a:ext cx="451920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A Brady violation that hides a key witness.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28625" y="3896581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20" name="Text 17"/>
          <p:cNvSpPr/>
          <p:nvPr/>
        </p:nvSpPr>
        <p:spPr>
          <a:xfrm>
            <a:off x="658676" y="3891223"/>
            <a:ext cx="391089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Why does the video contradict the officer?</a:t>
            </a:r>
            <a:endParaRPr lang="en-US" sz="1295" dirty="0"/>
          </a:p>
        </p:txBody>
      </p:sp>
      <p:sp>
        <p:nvSpPr>
          <p:cNvPr id="21" name="Text 18"/>
          <p:cNvSpPr/>
          <p:nvPr/>
        </p:nvSpPr>
        <p:spPr>
          <a:xfrm>
            <a:off x="658676" y="4173736"/>
            <a:ext cx="3910896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Signal visible vs. "No signal."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5500688" y="1776450"/>
            <a:ext cx="3214688" cy="2455664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8" y="1776450"/>
            <a:ext cx="3214688" cy="2143125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500688" y="3919575"/>
            <a:ext cx="3214688" cy="2982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1"/>
          <p:cNvSpPr/>
          <p:nvPr/>
        </p:nvSpPr>
        <p:spPr>
          <a:xfrm>
            <a:off x="5500688" y="3919575"/>
            <a:ext cx="3214688" cy="29825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Reliability Requires Verification</a:t>
            </a:r>
            <a:endParaRPr lang="en-US" sz="784" dirty="0"/>
          </a:p>
        </p:txBody>
      </p:sp>
      <p:sp>
        <p:nvSpPr>
          <p:cNvPr id="26" name="Shape 22"/>
          <p:cNvSpPr/>
          <p:nvPr/>
        </p:nvSpPr>
        <p:spPr>
          <a:xfrm>
            <a:off x="428625" y="4670757"/>
            <a:ext cx="8286750" cy="47274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428625" y="4670757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4"/>
          <p:cNvSpPr/>
          <p:nvPr/>
        </p:nvSpPr>
        <p:spPr>
          <a:xfrm>
            <a:off x="428625" y="4670757"/>
            <a:ext cx="8286750" cy="47274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037630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532867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Closing Argument Preview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072214" y="719733"/>
            <a:ext cx="7860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F00"/>
                </a:solidFill>
              </a:rPr>
              <a:t>Summary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85750" y="1151930"/>
            <a:ext cx="8572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The State Cannot Overcome These Doubts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285750" y="1539478"/>
            <a:ext cx="2781291" cy="28485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539478"/>
            <a:ext cx="2781291" cy="57150"/>
          </a:xfrm>
          <a:prstGeom prst="rect">
            <a:avLst/>
          </a:prstGeom>
          <a:solidFill>
            <a:srgbClr val="3944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8" y="1723430"/>
            <a:ext cx="250031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4338" y="2143125"/>
            <a:ext cx="2524116" cy="305395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Scientific Failure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414338" y="2534245"/>
            <a:ext cx="2524116" cy="172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State asks you to trust a machine that recorded a </a:t>
            </a:r>
            <a:r>
              <a:rPr lang="en-US" sz="987" b="1" dirty="0">
                <a:solidFill>
                  <a:srgbClr val="333333"/>
                </a:solidFill>
              </a:rPr>
              <a:t>physiologically impossible</a:t>
            </a:r>
            <a:r>
              <a:rPr lang="en-US" sz="1050" dirty="0">
                <a:solidFill>
                  <a:srgbClr val="333333"/>
                </a:solidFill>
              </a:rPr>
              <a:t> 144-second breath sample without any verification.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81341" y="1539478"/>
            <a:ext cx="2781291" cy="28485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0"/>
          <p:cNvSpPr/>
          <p:nvPr/>
        </p:nvSpPr>
        <p:spPr>
          <a:xfrm>
            <a:off x="3181341" y="1539478"/>
            <a:ext cx="2781291" cy="571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928" y="1723430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09928" y="2143125"/>
            <a:ext cx="2524116" cy="305395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Investigative Failure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3309928" y="2534245"/>
            <a:ext cx="2524116" cy="172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investigation was driven by </a:t>
            </a:r>
            <a:r>
              <a:rPr lang="en-US" sz="987" b="1" dirty="0">
                <a:solidFill>
                  <a:srgbClr val="333333"/>
                </a:solidFill>
              </a:rPr>
              <a:t>confirmation bias</a:t>
            </a:r>
            <a:r>
              <a:rPr lang="en-US" sz="1050" dirty="0">
                <a:solidFill>
                  <a:srgbClr val="333333"/>
                </a:solidFill>
              </a:rPr>
              <a:t> from an officer with a 24x higher arrest rate, ignoring objective video evidence.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76931" y="1539478"/>
            <a:ext cx="2781319" cy="28485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076931" y="1539478"/>
            <a:ext cx="2781319" cy="57150"/>
          </a:xfrm>
          <a:prstGeom prst="rect">
            <a:avLst/>
          </a:prstGeom>
          <a:solidFill>
            <a:srgbClr val="FF3F0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5519" y="1723430"/>
            <a:ext cx="357188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05519" y="2143125"/>
            <a:ext cx="2524144" cy="305395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Procedural Failure</a:t>
            </a:r>
            <a:endParaRPr lang="en-US" sz="1193" dirty="0"/>
          </a:p>
        </p:txBody>
      </p:sp>
      <p:sp>
        <p:nvSpPr>
          <p:cNvPr id="22" name="Text 16"/>
          <p:cNvSpPr/>
          <p:nvPr/>
        </p:nvSpPr>
        <p:spPr>
          <a:xfrm>
            <a:off x="6205519" y="2534245"/>
            <a:ext cx="2524144" cy="172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State violated fundamental rights by conducting </a:t>
            </a:r>
            <a:r>
              <a:rPr lang="en-US" sz="987" b="1" dirty="0">
                <a:solidFill>
                  <a:srgbClr val="333333"/>
                </a:solidFill>
              </a:rPr>
              <a:t>80 minutes of custodial interrogation</a:t>
            </a:r>
            <a:r>
              <a:rPr lang="en-US" sz="1050" dirty="0">
                <a:solidFill>
                  <a:srgbClr val="333333"/>
                </a:solidFill>
              </a:rPr>
              <a:t> without Miranda warnings.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85750" y="4502348"/>
            <a:ext cx="8572500" cy="49827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285750" y="4502348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19"/>
          <p:cNvSpPr/>
          <p:nvPr/>
        </p:nvSpPr>
        <p:spPr>
          <a:xfrm>
            <a:off x="285750" y="4595217"/>
            <a:ext cx="3460952" cy="40540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20"/>
          <p:cNvSpPr/>
          <p:nvPr/>
        </p:nvSpPr>
        <p:spPr>
          <a:xfrm>
            <a:off x="285750" y="4595217"/>
            <a:ext cx="3460952" cy="40540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Reasonable Doubt Requires Acquittal.</a:t>
            </a:r>
            <a:endParaRPr lang="en-US" sz="1193" dirty="0"/>
          </a:p>
        </p:txBody>
      </p:sp>
      <p:sp>
        <p:nvSpPr>
          <p:cNvPr id="27" name="Text 21"/>
          <p:cNvSpPr/>
          <p:nvPr/>
        </p:nvSpPr>
        <p:spPr>
          <a:xfrm>
            <a:off x="7149610" y="4730055"/>
            <a:ext cx="17086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5518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951905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34903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Defense Theme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546981" y="719733"/>
            <a:ext cx="13112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3944BC"/>
                </a:solidFill>
              </a:rPr>
              <a:t>Core Argument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57200" y="1139596"/>
            <a:ext cx="82296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666666"/>
                </a:solidFill>
              </a:rPr>
              <a:t>The Law Requires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57200" y="1430703"/>
            <a:ext cx="8229600" cy="93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294" b="1" dirty="0">
                <a:solidFill>
                  <a:srgbClr val="3944BC"/>
                </a:solidFill>
              </a:rPr>
              <a:t>Proof Beyond a
Reasonable Doubt</a:t>
            </a:r>
            <a:endParaRPr lang="en-US" sz="3294" dirty="0"/>
          </a:p>
        </p:txBody>
      </p:sp>
      <p:sp>
        <p:nvSpPr>
          <p:cNvPr id="9" name="Text 6"/>
          <p:cNvSpPr/>
          <p:nvPr/>
        </p:nvSpPr>
        <p:spPr>
          <a:xfrm>
            <a:off x="457200" y="2649103"/>
            <a:ext cx="82296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666666"/>
                </a:solidFill>
              </a:rPr>
              <a:t>It Does Not Accept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57200" y="2940211"/>
            <a:ext cx="8229600" cy="93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294" b="1" dirty="0">
                <a:solidFill>
                  <a:srgbClr val="FF3F00"/>
                </a:solidFill>
              </a:rPr>
              <a:t>Proof Based on
Reasonable Bias</a:t>
            </a:r>
            <a:endParaRPr lang="en-US" sz="3294" dirty="0"/>
          </a:p>
        </p:txBody>
      </p:sp>
      <p:sp>
        <p:nvSpPr>
          <p:cNvPr id="11" name="Text 8"/>
          <p:cNvSpPr/>
          <p:nvPr/>
        </p:nvSpPr>
        <p:spPr>
          <a:xfrm>
            <a:off x="457200" y="4044311"/>
            <a:ext cx="6429375" cy="540023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The State asks you to trust a broken machine and a biased investigation. The law asks you to demand more.</a:t>
            </a:r>
            <a:endParaRPr lang="en-US" sz="1486" dirty="0"/>
          </a:p>
        </p:txBody>
      </p:sp>
      <p:sp>
        <p:nvSpPr>
          <p:cNvPr id="12" name="Shape 9"/>
          <p:cNvSpPr/>
          <p:nvPr/>
        </p:nvSpPr>
        <p:spPr>
          <a:xfrm>
            <a:off x="285750" y="4772025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4772025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1"/>
          <p:cNvSpPr/>
          <p:nvPr/>
        </p:nvSpPr>
        <p:spPr>
          <a:xfrm>
            <a:off x="285750" y="4772025"/>
            <a:ext cx="8572500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72503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125085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523224"/>
            <a:ext cx="461648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Your Options as Jurors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65241" y="814332"/>
            <a:ext cx="9930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3944BC"/>
                </a:solidFill>
              </a:rPr>
              <a:t>The Verdict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85750" y="1275104"/>
            <a:ext cx="4200525" cy="267371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1275104"/>
            <a:ext cx="4200525" cy="5715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9" name="Text 6"/>
          <p:cNvSpPr/>
          <p:nvPr/>
        </p:nvSpPr>
        <p:spPr>
          <a:xfrm>
            <a:off x="414338" y="1417979"/>
            <a:ext cx="39433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66666"/>
                </a:solidFill>
              </a:rPr>
              <a:t>To Vote Guilty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414338" y="1801955"/>
            <a:ext cx="39433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333333"/>
                </a:solidFill>
              </a:rPr>
              <a:t>You must be convinced beyond reasonable doubt of ALL of these: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14338" y="2062702"/>
            <a:ext cx="8659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666666"/>
                </a:solidFill>
              </a:rPr>
              <a:t>?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64369" y="2064488"/>
            <a:ext cx="3686259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That a human can physically blow for 144 seconds (21.6 Liters).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414338" y="2602725"/>
            <a:ext cx="8659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666666"/>
                </a:solidFill>
              </a:rPr>
              <a:t>?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664369" y="2604511"/>
            <a:ext cx="3681068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That the machine functioned perfectly despite the officer's "improper" admission.</a:t>
            </a:r>
            <a:endParaRPr lang="en-US" sz="1159" dirty="0"/>
          </a:p>
        </p:txBody>
      </p:sp>
      <p:sp>
        <p:nvSpPr>
          <p:cNvPr id="15" name="Text 12"/>
          <p:cNvSpPr/>
          <p:nvPr/>
        </p:nvSpPr>
        <p:spPr>
          <a:xfrm>
            <a:off x="414338" y="3142748"/>
            <a:ext cx="8659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666666"/>
                </a:solidFill>
              </a:rPr>
              <a:t>?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664369" y="3144534"/>
            <a:ext cx="3356390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That an officer with a 24x arrest rate had zero bias.</a:t>
            </a:r>
            <a:endParaRPr lang="en-US" sz="1159" dirty="0"/>
          </a:p>
        </p:txBody>
      </p:sp>
      <p:sp>
        <p:nvSpPr>
          <p:cNvPr id="17" name="Shape 14"/>
          <p:cNvSpPr/>
          <p:nvPr/>
        </p:nvSpPr>
        <p:spPr>
          <a:xfrm>
            <a:off x="4657725" y="1289391"/>
            <a:ext cx="4200525" cy="2630853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657725" y="1289391"/>
            <a:ext cx="4200525" cy="57150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9" name="Text 16"/>
          <p:cNvSpPr/>
          <p:nvPr/>
        </p:nvSpPr>
        <p:spPr>
          <a:xfrm>
            <a:off x="4786313" y="1417979"/>
            <a:ext cx="39433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944BC"/>
                </a:solidFill>
              </a:rPr>
              <a:t>To Vote Not Guilty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4786313" y="1801955"/>
            <a:ext cx="39433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333333"/>
                </a:solidFill>
              </a:rPr>
              <a:t>You only need ONE of these: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4786313" y="2062702"/>
            <a:ext cx="127722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✓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5036344" y="2064488"/>
            <a:ext cx="358222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 doubt about the 144-second breath test result.</a:t>
            </a:r>
            <a:endParaRPr lang="en-US" sz="1159" dirty="0"/>
          </a:p>
        </p:txBody>
      </p:sp>
      <p:sp>
        <p:nvSpPr>
          <p:cNvPr id="23" name="Text 20"/>
          <p:cNvSpPr/>
          <p:nvPr/>
        </p:nvSpPr>
        <p:spPr>
          <a:xfrm>
            <a:off x="4786313" y="2382720"/>
            <a:ext cx="127722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✓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5036344" y="2384506"/>
            <a:ext cx="32300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 doubt about the lack of blood verification.</a:t>
            </a:r>
            <a:endParaRPr lang="en-US" sz="1159" dirty="0"/>
          </a:p>
        </p:txBody>
      </p:sp>
      <p:sp>
        <p:nvSpPr>
          <p:cNvPr id="25" name="Text 22"/>
          <p:cNvSpPr/>
          <p:nvPr/>
        </p:nvSpPr>
        <p:spPr>
          <a:xfrm>
            <a:off x="4786313" y="2702737"/>
            <a:ext cx="127722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✓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5036344" y="2704523"/>
            <a:ext cx="33109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 doubt about the officer's credibility or bias.</a:t>
            </a:r>
            <a:endParaRPr lang="en-US" sz="1159" dirty="0"/>
          </a:p>
        </p:txBody>
      </p:sp>
      <p:sp>
        <p:nvSpPr>
          <p:cNvPr id="27" name="Shape 24"/>
          <p:cNvSpPr/>
          <p:nvPr/>
        </p:nvSpPr>
        <p:spPr>
          <a:xfrm>
            <a:off x="285750" y="4063119"/>
            <a:ext cx="8572500" cy="5142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285750" y="4063119"/>
            <a:ext cx="8572500" cy="5142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If you have a reasonable doubt, the law requires a verdict of Not Guilty.</a:t>
            </a:r>
            <a:endParaRPr lang="en-US" sz="1193" dirty="0"/>
          </a:p>
        </p:txBody>
      </p:sp>
      <p:sp>
        <p:nvSpPr>
          <p:cNvPr id="29" name="Shape 26"/>
          <p:cNvSpPr/>
          <p:nvPr/>
        </p:nvSpPr>
        <p:spPr>
          <a:xfrm>
            <a:off x="285750" y="4720289"/>
            <a:ext cx="8572500" cy="3374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85750" y="4720289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8"/>
          <p:cNvSpPr/>
          <p:nvPr/>
        </p:nvSpPr>
        <p:spPr>
          <a:xfrm>
            <a:off x="285750" y="4720289"/>
            <a:ext cx="8572500" cy="337486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207866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Thank You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687038" y="719733"/>
            <a:ext cx="10283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3944BC"/>
                </a:solidFill>
              </a:rPr>
              <a:t>Conclusion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534301" y="1860054"/>
            <a:ext cx="407537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3944BC"/>
                </a:solidFill>
              </a:rPr>
              <a:t>State v. Golub</a:t>
            </a:r>
            <a:endParaRPr lang="en-US" sz="4145" dirty="0"/>
          </a:p>
        </p:txBody>
      </p:sp>
      <p:sp>
        <p:nvSpPr>
          <p:cNvPr id="8" name="Text 5"/>
          <p:cNvSpPr/>
          <p:nvPr/>
        </p:nvSpPr>
        <p:spPr>
          <a:xfrm>
            <a:off x="3397383" y="2631579"/>
            <a:ext cx="234923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666666"/>
                </a:solidFill>
              </a:rPr>
              <a:t>Case No. 235900706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3693402" y="3372743"/>
            <a:ext cx="17571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kern="0" spc="2" dirty="0">
                <a:solidFill>
                  <a:srgbClr val="000000"/>
                </a:solidFill>
              </a:rPr>
              <a:t>Defense Counsel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428625" y="4429125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4429125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4429125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1838</Words>
  <Application>Microsoft Office PowerPoint</Application>
  <PresentationFormat>On-screen Show (16:9)</PresentationFormat>
  <Paragraphs>310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Golub</cp:lastModifiedBy>
  <cp:revision>4</cp:revision>
  <dcterms:created xsi:type="dcterms:W3CDTF">2026-01-16T07:55:31Z</dcterms:created>
  <dcterms:modified xsi:type="dcterms:W3CDTF">2026-01-16T08:04:30Z</dcterms:modified>
</cp:coreProperties>
</file>